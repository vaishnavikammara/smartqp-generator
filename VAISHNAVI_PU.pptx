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sldIdLst>
    <p:sldId id="256" r:id="rId2"/>
    <p:sldId id="381" r:id="rId3"/>
    <p:sldId id="382" r:id="rId4"/>
    <p:sldId id="383" r:id="rId5"/>
    <p:sldId id="384" r:id="rId6"/>
    <p:sldId id="385" r:id="rId7"/>
    <p:sldId id="388" r:id="rId8"/>
    <p:sldId id="393" r:id="rId9"/>
    <p:sldId id="392" r:id="rId10"/>
    <p:sldId id="391" r:id="rId11"/>
    <p:sldId id="390" r:id="rId12"/>
    <p:sldId id="386" r:id="rId13"/>
    <p:sldId id="395" r:id="rId14"/>
    <p:sldId id="387" r:id="rId15"/>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9787" autoAdjust="0"/>
  </p:normalViewPr>
  <p:slideViewPr>
    <p:cSldViewPr>
      <p:cViewPr varScale="1">
        <p:scale>
          <a:sx n="66" d="100"/>
          <a:sy n="66" d="100"/>
        </p:scale>
        <p:origin x="876" y="66"/>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87575FD-C7B9-4819-A8C8-4308F1DBD6DF}" type="datetimeFigureOut">
              <a:rPr lang="en-IN" smtClean="0"/>
              <a:t>13-08-2026</a:t>
            </a:fld>
            <a:endParaRPr lang="en-IN"/>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3F5C0C3-FD5A-4E15-B9BC-3089E7AF4D97}" type="slidenum">
              <a:rPr lang="en-IN" smtClean="0"/>
              <a:t>‹#›</a:t>
            </a:fld>
            <a:endParaRPr lang="en-IN"/>
          </a:p>
        </p:txBody>
      </p:sp>
    </p:spTree>
    <p:extLst>
      <p:ext uri="{BB962C8B-B14F-4D97-AF65-F5344CB8AC3E}">
        <p14:creationId xmlns:p14="http://schemas.microsoft.com/office/powerpoint/2010/main" val="348452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173204"/>
            <a:ext cx="12192000" cy="1684792"/>
          </a:xfrm>
          <a:prstGeom prst="rect">
            <a:avLst/>
          </a:prstGeom>
          <a:blipFill>
            <a:blip r:embed="rId2" cstate="print"/>
            <a:stretch>
              <a:fillRect/>
            </a:stretch>
          </a:blipFill>
        </p:spPr>
        <p:txBody>
          <a:bodyPr wrap="square" lIns="0" tIns="0" rIns="0" bIns="0" rtlCol="0"/>
          <a:lstStyle/>
          <a:p>
            <a:endParaRPr sz="1800"/>
          </a:p>
        </p:txBody>
      </p:sp>
      <p:sp>
        <p:nvSpPr>
          <p:cNvPr id="17" name="bg object 17"/>
          <p:cNvSpPr/>
          <p:nvPr/>
        </p:nvSpPr>
        <p:spPr>
          <a:xfrm>
            <a:off x="1255776" y="1633727"/>
            <a:ext cx="9233408" cy="4209288"/>
          </a:xfrm>
          <a:prstGeom prst="rect">
            <a:avLst/>
          </a:prstGeom>
          <a:blipFill>
            <a:blip r:embed="rId3" cstate="print"/>
            <a:stretch>
              <a:fillRect/>
            </a:stretch>
          </a:blipFill>
        </p:spPr>
        <p:txBody>
          <a:bodyPr wrap="square" lIns="0" tIns="0" rIns="0" bIns="0" rtlCol="0"/>
          <a:lstStyle/>
          <a:p>
            <a:endParaRPr sz="1800"/>
          </a:p>
        </p:txBody>
      </p:sp>
      <p:sp>
        <p:nvSpPr>
          <p:cNvPr id="2" name="Holder 2"/>
          <p:cNvSpPr>
            <a:spLocks noGrp="1"/>
          </p:cNvSpPr>
          <p:nvPr>
            <p:ph type="ctrTitle"/>
          </p:nvPr>
        </p:nvSpPr>
        <p:spPr>
          <a:xfrm>
            <a:off x="1256724" y="-259334"/>
            <a:ext cx="7826587" cy="695325"/>
          </a:xfrm>
          <a:prstGeom prst="rect">
            <a:avLst/>
          </a:prstGeom>
        </p:spPr>
        <p:txBody>
          <a:bodyPr wrap="square" lIns="0" tIns="0" rIns="0" bIns="0">
            <a:spAutoFit/>
          </a:bodyPr>
          <a:lstStyle>
            <a:lvl1pPr>
              <a:defRPr sz="4400" b="0" i="0">
                <a:solidFill>
                  <a:srgbClr val="1F3863"/>
                </a:solidFill>
                <a:latin typeface="Caladea"/>
                <a:cs typeface="Caladea"/>
              </a:defRPr>
            </a:lvl1pPr>
          </a:lstStyle>
          <a:p>
            <a:endParaRPr/>
          </a:p>
        </p:txBody>
      </p:sp>
      <p:sp>
        <p:nvSpPr>
          <p:cNvPr id="3" name="Holder 3"/>
          <p:cNvSpPr>
            <a:spLocks noGrp="1"/>
          </p:cNvSpPr>
          <p:nvPr>
            <p:ph type="subTitle" idx="4"/>
          </p:nvPr>
        </p:nvSpPr>
        <p:spPr>
          <a:xfrm>
            <a:off x="1828800" y="3840480"/>
            <a:ext cx="8534400" cy="4308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IN"/>
              <a:t>zeroth review-Dissertation-I</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B219BB5-858A-EF43-AFC0-0DD7B784A8F8}" type="datetime1">
              <a:rPr lang="en-IN" smtClean="0"/>
              <a:t>13-08-2026</a:t>
            </a:fld>
            <a:endParaRPr lang="en-US"/>
          </a:p>
        </p:txBody>
      </p:sp>
      <p:sp>
        <p:nvSpPr>
          <p:cNvPr id="6" name="Holder 6"/>
          <p:cNvSpPr>
            <a:spLocks noGrp="1"/>
          </p:cNvSpPr>
          <p:nvPr>
            <p:ph type="sldNum" sz="quarter" idx="7"/>
          </p:nvPr>
        </p:nvSpPr>
        <p:spPr/>
        <p:txBody>
          <a:bodyPr lIns="0" tIns="0" rIns="0" bIns="0"/>
          <a:lstStyle>
            <a:lvl1pPr>
              <a:defRPr sz="1400" b="1" i="0">
                <a:solidFill>
                  <a:schemeClr val="tx1"/>
                </a:solidFill>
                <a:latin typeface="Arial"/>
                <a:cs typeface="Arial"/>
              </a:defRPr>
            </a:lvl1pPr>
          </a:lstStyle>
          <a:p>
            <a:pPr marL="38100">
              <a:lnSpc>
                <a:spcPts val="1639"/>
              </a:lnSpc>
            </a:pPr>
            <a:fld id="{81D60167-4931-47E6-BA6A-407CBD079E47}" type="slidenum">
              <a:rPr lang="en-IN" spc="-5" smtClean="0"/>
              <a:pPr marL="38100">
                <a:lnSpc>
                  <a:spcPts val="1639"/>
                </a:lnSpc>
              </a:pPr>
              <a:t>‹#›</a:t>
            </a:fld>
            <a:endParaRPr lang="en-IN"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1F3863"/>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adea"/>
                <a:cs typeface="Calade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IN"/>
              <a:t>zeroth review-Dissertation-I</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65B16AA-8AD8-2745-88E2-8EF311F85238}" type="datetime1">
              <a:rPr lang="en-IN" smtClean="0"/>
              <a:t>13-08-2026</a:t>
            </a:fld>
            <a:endParaRPr lang="en-US"/>
          </a:p>
        </p:txBody>
      </p:sp>
      <p:sp>
        <p:nvSpPr>
          <p:cNvPr id="6" name="Holder 6"/>
          <p:cNvSpPr>
            <a:spLocks noGrp="1"/>
          </p:cNvSpPr>
          <p:nvPr>
            <p:ph type="sldNum" sz="quarter" idx="7"/>
          </p:nvPr>
        </p:nvSpPr>
        <p:spPr/>
        <p:txBody>
          <a:bodyPr lIns="0" tIns="0" rIns="0" bIns="0"/>
          <a:lstStyle>
            <a:lvl1pPr>
              <a:defRPr sz="1400" b="1" i="0">
                <a:solidFill>
                  <a:schemeClr val="tx1"/>
                </a:solidFill>
                <a:latin typeface="Arial"/>
                <a:cs typeface="Arial"/>
              </a:defRPr>
            </a:lvl1pPr>
          </a:lstStyle>
          <a:p>
            <a:pPr marL="38100">
              <a:lnSpc>
                <a:spcPts val="1639"/>
              </a:lnSpc>
            </a:pPr>
            <a:fld id="{81D60167-4931-47E6-BA6A-407CBD079E47}" type="slidenum">
              <a:rPr lang="en-IN" spc="-5" smtClean="0"/>
              <a:pPr marL="38100">
                <a:lnSpc>
                  <a:spcPts val="1639"/>
                </a:lnSpc>
              </a:pPr>
              <a:t>‹#›</a:t>
            </a:fld>
            <a:endParaRPr lang="en-IN"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1F3863"/>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3088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308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IN"/>
              <a:t>zeroth review-Dissertation-I</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5600DE58-7892-4046-A625-A74AF17C3D58}" type="datetime1">
              <a:rPr lang="en-IN" smtClean="0"/>
              <a:t>13-08-2026</a:t>
            </a:fld>
            <a:endParaRPr lang="en-US"/>
          </a:p>
        </p:txBody>
      </p:sp>
      <p:sp>
        <p:nvSpPr>
          <p:cNvPr id="7" name="Holder 7"/>
          <p:cNvSpPr>
            <a:spLocks noGrp="1"/>
          </p:cNvSpPr>
          <p:nvPr>
            <p:ph type="sldNum" sz="quarter" idx="7"/>
          </p:nvPr>
        </p:nvSpPr>
        <p:spPr/>
        <p:txBody>
          <a:bodyPr lIns="0" tIns="0" rIns="0" bIns="0"/>
          <a:lstStyle>
            <a:lvl1pPr>
              <a:defRPr sz="1400" b="1" i="0">
                <a:solidFill>
                  <a:schemeClr val="tx1"/>
                </a:solidFill>
                <a:latin typeface="Arial"/>
                <a:cs typeface="Arial"/>
              </a:defRPr>
            </a:lvl1pPr>
          </a:lstStyle>
          <a:p>
            <a:pPr marL="38100">
              <a:lnSpc>
                <a:spcPts val="1639"/>
              </a:lnSpc>
            </a:pPr>
            <a:fld id="{81D60167-4931-47E6-BA6A-407CBD079E47}" type="slidenum">
              <a:rPr lang="en-IN" spc="-5" smtClean="0"/>
              <a:pPr marL="38100">
                <a:lnSpc>
                  <a:spcPts val="1639"/>
                </a:lnSpc>
              </a:pPr>
              <a:t>‹#›</a:t>
            </a:fld>
            <a:endParaRPr lang="en-IN"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1F3863"/>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IN"/>
              <a:t>zeroth review-Dissertation-I</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699E7A48-1CD1-1C49-BD07-DD60E60218EC}" type="datetime1">
              <a:rPr lang="en-IN" smtClean="0"/>
              <a:t>13-08-2026</a:t>
            </a:fld>
            <a:endParaRPr lang="en-US"/>
          </a:p>
        </p:txBody>
      </p:sp>
      <p:sp>
        <p:nvSpPr>
          <p:cNvPr id="5" name="Holder 5"/>
          <p:cNvSpPr>
            <a:spLocks noGrp="1"/>
          </p:cNvSpPr>
          <p:nvPr>
            <p:ph type="sldNum" sz="quarter" idx="7"/>
          </p:nvPr>
        </p:nvSpPr>
        <p:spPr/>
        <p:txBody>
          <a:bodyPr lIns="0" tIns="0" rIns="0" bIns="0"/>
          <a:lstStyle>
            <a:lvl1pPr>
              <a:defRPr sz="1400" b="1" i="0">
                <a:solidFill>
                  <a:schemeClr val="tx1"/>
                </a:solidFill>
                <a:latin typeface="Arial"/>
                <a:cs typeface="Arial"/>
              </a:defRPr>
            </a:lvl1pPr>
          </a:lstStyle>
          <a:p>
            <a:pPr marL="38100">
              <a:lnSpc>
                <a:spcPts val="1639"/>
              </a:lnSpc>
            </a:pPr>
            <a:fld id="{81D60167-4931-47E6-BA6A-407CBD079E47}" type="slidenum">
              <a:rPr lang="en-IN" spc="-5" smtClean="0"/>
              <a:pPr marL="38100">
                <a:lnSpc>
                  <a:spcPts val="1639"/>
                </a:lnSpc>
              </a:pPr>
              <a:t>‹#›</a:t>
            </a:fld>
            <a:endParaRPr lang="en-IN"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IN"/>
              <a:t>zeroth review-Dissertation-I</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D830E13E-CB8E-C442-B7D7-ABDA2DD82F16}" type="datetime1">
              <a:rPr lang="en-IN" smtClean="0"/>
              <a:t>13-08-2026</a:t>
            </a:fld>
            <a:endParaRPr lang="en-US"/>
          </a:p>
        </p:txBody>
      </p:sp>
      <p:sp>
        <p:nvSpPr>
          <p:cNvPr id="4" name="Holder 4"/>
          <p:cNvSpPr>
            <a:spLocks noGrp="1"/>
          </p:cNvSpPr>
          <p:nvPr>
            <p:ph type="sldNum" sz="quarter" idx="7"/>
          </p:nvPr>
        </p:nvSpPr>
        <p:spPr/>
        <p:txBody>
          <a:bodyPr lIns="0" tIns="0" rIns="0" bIns="0"/>
          <a:lstStyle>
            <a:lvl1pPr>
              <a:defRPr sz="1400" b="1" i="0">
                <a:solidFill>
                  <a:schemeClr val="tx1"/>
                </a:solidFill>
                <a:latin typeface="Arial"/>
                <a:cs typeface="Arial"/>
              </a:defRPr>
            </a:lvl1pPr>
          </a:lstStyle>
          <a:p>
            <a:pPr marL="38100">
              <a:lnSpc>
                <a:spcPts val="1639"/>
              </a:lnSpc>
            </a:pPr>
            <a:fld id="{81D60167-4931-47E6-BA6A-407CBD079E47}" type="slidenum">
              <a:rPr lang="en-IN" spc="-5" smtClean="0"/>
              <a:pPr marL="38100">
                <a:lnSpc>
                  <a:spcPts val="1639"/>
                </a:lnSpc>
              </a:pPr>
              <a:t>‹#›</a:t>
            </a:fld>
            <a:endParaRPr lang="en-IN" spc="-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173204"/>
            <a:ext cx="12192000" cy="1684792"/>
          </a:xfrm>
          <a:prstGeom prst="rect">
            <a:avLst/>
          </a:prstGeom>
          <a:blipFill>
            <a:blip r:embed="rId7" cstate="print"/>
            <a:stretch>
              <a:fillRect/>
            </a:stretch>
          </a:blipFill>
        </p:spPr>
        <p:txBody>
          <a:bodyPr wrap="square" lIns="0" tIns="0" rIns="0" bIns="0" rtlCol="0"/>
          <a:lstStyle/>
          <a:p>
            <a:endParaRPr sz="1800"/>
          </a:p>
        </p:txBody>
      </p:sp>
      <p:sp>
        <p:nvSpPr>
          <p:cNvPr id="2" name="Holder 2"/>
          <p:cNvSpPr>
            <a:spLocks noGrp="1"/>
          </p:cNvSpPr>
          <p:nvPr>
            <p:ph type="title"/>
          </p:nvPr>
        </p:nvSpPr>
        <p:spPr>
          <a:xfrm>
            <a:off x="943390" y="30607"/>
            <a:ext cx="9955953" cy="430887"/>
          </a:xfrm>
          <a:prstGeom prst="rect">
            <a:avLst/>
          </a:prstGeom>
        </p:spPr>
        <p:txBody>
          <a:bodyPr wrap="square" lIns="0" tIns="0" rIns="0" bIns="0">
            <a:spAutoFit/>
          </a:bodyPr>
          <a:lstStyle>
            <a:lvl1pPr>
              <a:defRPr sz="2800" b="0" i="0">
                <a:solidFill>
                  <a:srgbClr val="1F3863"/>
                </a:solidFill>
                <a:latin typeface="Trebuchet MS"/>
                <a:cs typeface="Trebuchet MS"/>
              </a:defRPr>
            </a:lvl1pPr>
          </a:lstStyle>
          <a:p>
            <a:endParaRPr/>
          </a:p>
        </p:txBody>
      </p:sp>
      <p:sp>
        <p:nvSpPr>
          <p:cNvPr id="3" name="Holder 3"/>
          <p:cNvSpPr>
            <a:spLocks noGrp="1"/>
          </p:cNvSpPr>
          <p:nvPr>
            <p:ph type="body" idx="1"/>
          </p:nvPr>
        </p:nvSpPr>
        <p:spPr>
          <a:xfrm>
            <a:off x="1174768" y="1078845"/>
            <a:ext cx="9842465" cy="430887"/>
          </a:xfrm>
          <a:prstGeom prst="rect">
            <a:avLst/>
          </a:prstGeom>
        </p:spPr>
        <p:txBody>
          <a:bodyPr wrap="square" lIns="0" tIns="0" rIns="0" bIns="0">
            <a:spAutoFit/>
          </a:bodyPr>
          <a:lstStyle>
            <a:lvl1pPr>
              <a:defRPr sz="2800" b="0" i="0">
                <a:solidFill>
                  <a:schemeClr val="tx1"/>
                </a:solidFill>
                <a:latin typeface="Caladea"/>
                <a:cs typeface="Caladea"/>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r>
              <a:rPr lang="en-IN"/>
              <a:t>zeroth review-Dissertation-I</a:t>
            </a:r>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8A233DDC-B179-384E-9634-DF2EA62C7DDA}" type="datetime1">
              <a:rPr lang="en-IN" smtClean="0"/>
              <a:t>13-08-2026</a:t>
            </a:fld>
            <a:endParaRPr lang="en-US"/>
          </a:p>
        </p:txBody>
      </p:sp>
      <p:sp>
        <p:nvSpPr>
          <p:cNvPr id="6" name="Holder 6"/>
          <p:cNvSpPr>
            <a:spLocks noGrp="1"/>
          </p:cNvSpPr>
          <p:nvPr>
            <p:ph type="sldNum" sz="quarter" idx="7"/>
          </p:nvPr>
        </p:nvSpPr>
        <p:spPr>
          <a:xfrm>
            <a:off x="11729042" y="6508812"/>
            <a:ext cx="362372" cy="205184"/>
          </a:xfrm>
          <a:prstGeom prst="rect">
            <a:avLst/>
          </a:prstGeom>
        </p:spPr>
        <p:txBody>
          <a:bodyPr wrap="square" lIns="0" tIns="0" rIns="0" bIns="0">
            <a:spAutoFit/>
          </a:bodyPr>
          <a:lstStyle>
            <a:lvl1pPr>
              <a:defRPr sz="1400" b="1" i="0">
                <a:solidFill>
                  <a:schemeClr val="tx1"/>
                </a:solidFill>
                <a:latin typeface="Arial"/>
                <a:cs typeface="Arial"/>
              </a:defRPr>
            </a:lvl1pPr>
          </a:lstStyle>
          <a:p>
            <a:pPr marL="38100">
              <a:lnSpc>
                <a:spcPts val="1639"/>
              </a:lnSpc>
            </a:pPr>
            <a:fld id="{81D60167-4931-47E6-BA6A-407CBD079E47}" type="slidenum">
              <a:rPr lang="en-IN" spc="-5" smtClean="0"/>
              <a:pPr marL="38100">
                <a:lnSpc>
                  <a:spcPts val="1639"/>
                </a:lnSpc>
              </a:pPr>
              <a:t>‹#›</a:t>
            </a:fld>
            <a:endParaRPr lang="en-IN"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45977"/>
            <a:ext cx="11277599" cy="4644220"/>
          </a:xfrm>
          <a:prstGeom prst="rect">
            <a:avLst/>
          </a:prstGeom>
        </p:spPr>
        <p:txBody>
          <a:bodyPr vert="horz" wrap="square" lIns="0" tIns="88265" rIns="0" bIns="0" rtlCol="0">
            <a:spAutoFit/>
          </a:bodyPr>
          <a:lstStyle/>
          <a:p>
            <a:pPr marL="332105" marR="307340" algn="ctr">
              <a:spcBef>
                <a:spcPts val="295"/>
              </a:spcBef>
            </a:pPr>
            <a:r>
              <a:rPr lang="en-US" sz="3600" b="1" dirty="0">
                <a:latin typeface="Times New Roman" panose="02020603050405020304" pitchFamily="18" charset="0"/>
                <a:ea typeface="Times New Roman" panose="02020603050405020304" pitchFamily="18" charset="0"/>
              </a:rPr>
              <a:t>Presidency School</a:t>
            </a:r>
            <a:r>
              <a:rPr lang="en-US" sz="3600" b="1" spc="-15" dirty="0">
                <a:latin typeface="Times New Roman" panose="02020603050405020304" pitchFamily="18" charset="0"/>
                <a:ea typeface="Times New Roman" panose="02020603050405020304" pitchFamily="18" charset="0"/>
              </a:rPr>
              <a:t> </a:t>
            </a:r>
            <a:r>
              <a:rPr lang="en-US" sz="3600" b="1" dirty="0">
                <a:latin typeface="Times New Roman" panose="02020603050405020304" pitchFamily="18" charset="0"/>
                <a:ea typeface="Times New Roman" panose="02020603050405020304" pitchFamily="18" charset="0"/>
              </a:rPr>
              <a:t>of Artificial Intelligence and Advanced Computing</a:t>
            </a:r>
            <a:r>
              <a:rPr lang="en-IN" sz="3200" dirty="0">
                <a:latin typeface="Times New Roman" panose="02020603050405020304" pitchFamily="18" charset="0"/>
                <a:ea typeface="Times New Roman" panose="02020603050405020304" pitchFamily="18" charset="0"/>
              </a:rPr>
              <a:t/>
            </a:r>
            <a:br>
              <a:rPr lang="en-IN" sz="3200" dirty="0">
                <a:latin typeface="Times New Roman" panose="02020603050405020304" pitchFamily="18" charset="0"/>
                <a:ea typeface="Times New Roman" panose="02020603050405020304" pitchFamily="18" charset="0"/>
              </a:rPr>
            </a:br>
            <a:r>
              <a:rPr lang="en-IN" sz="3200" dirty="0">
                <a:solidFill>
                  <a:srgbClr val="FF0000"/>
                </a:solidFill>
                <a:latin typeface="Times New Roman" panose="02020603050405020304" pitchFamily="18" charset="0"/>
                <a:ea typeface="Times New Roman" panose="02020603050405020304" pitchFamily="18" charset="0"/>
              </a:rPr>
              <a:t>PIP7500 </a:t>
            </a:r>
            <a:r>
              <a:rPr lang="en-US" sz="3200" b="1" dirty="0">
                <a:solidFill>
                  <a:srgbClr val="FF0000"/>
                </a:solidFill>
                <a:latin typeface="Times New Roman" panose="02020603050405020304" pitchFamily="18" charset="0"/>
                <a:ea typeface="Times New Roman" panose="02020603050405020304" pitchFamily="18" charset="0"/>
              </a:rPr>
              <a:t>Dissertation/Internship-I</a:t>
            </a:r>
            <a:r>
              <a:rPr lang="en-US" sz="3200" b="1" spc="-335" dirty="0">
                <a:solidFill>
                  <a:schemeClr val="tx2"/>
                </a:solidFill>
                <a:latin typeface="Times New Roman" panose="02020603050405020304" pitchFamily="18" charset="0"/>
                <a:ea typeface="Times New Roman" panose="02020603050405020304" pitchFamily="18" charset="0"/>
              </a:rPr>
              <a:t/>
            </a:r>
            <a:br>
              <a:rPr lang="en-US" sz="3200" b="1" spc="-335" dirty="0">
                <a:solidFill>
                  <a:schemeClr val="tx2"/>
                </a:solidFill>
                <a:latin typeface="Times New Roman" panose="02020603050405020304" pitchFamily="18" charset="0"/>
                <a:ea typeface="Times New Roman" panose="02020603050405020304" pitchFamily="18" charset="0"/>
              </a:rPr>
            </a:br>
            <a:r>
              <a:rPr lang="en-US" sz="3200" b="1" dirty="0">
                <a:solidFill>
                  <a:schemeClr val="tx2"/>
                </a:solidFill>
                <a:latin typeface="Times New Roman" panose="02020603050405020304" pitchFamily="18" charset="0"/>
                <a:ea typeface="Times New Roman" panose="02020603050405020304" pitchFamily="18" charset="0"/>
              </a:rPr>
              <a:t>ZEROTH REVIEW</a:t>
            </a:r>
            <a:br>
              <a:rPr lang="en-US" sz="3200" b="1" dirty="0">
                <a:solidFill>
                  <a:schemeClr val="tx2"/>
                </a:solidFill>
                <a:latin typeface="Times New Roman" panose="02020603050405020304" pitchFamily="18" charset="0"/>
                <a:ea typeface="Times New Roman" panose="02020603050405020304" pitchFamily="18" charset="0"/>
              </a:rPr>
            </a:br>
            <a:r>
              <a:rPr lang="en-US" sz="3200" b="1" dirty="0">
                <a:solidFill>
                  <a:schemeClr val="tx2"/>
                </a:solidFill>
                <a:latin typeface="Times New Roman" panose="02020603050405020304" pitchFamily="18" charset="0"/>
                <a:ea typeface="Times New Roman" panose="02020603050405020304" pitchFamily="18" charset="0"/>
              </a:rPr>
              <a:t/>
            </a:r>
            <a:br>
              <a:rPr lang="en-US" sz="3200" b="1" dirty="0">
                <a:solidFill>
                  <a:schemeClr val="tx2"/>
                </a:solidFill>
                <a:latin typeface="Times New Roman" panose="02020603050405020304" pitchFamily="18" charset="0"/>
                <a:ea typeface="Times New Roman" panose="02020603050405020304" pitchFamily="18" charset="0"/>
              </a:rPr>
            </a:br>
            <a:r>
              <a:rPr lang="en-US" sz="3200" b="1" dirty="0">
                <a:solidFill>
                  <a:schemeClr val="tx2"/>
                </a:solidFill>
                <a:latin typeface="Times New Roman" panose="02020603050405020304" pitchFamily="18" charset="0"/>
                <a:ea typeface="Times New Roman" panose="02020603050405020304" pitchFamily="18" charset="0"/>
              </a:rPr>
              <a:t>TITLE:</a:t>
            </a:r>
            <a:br>
              <a:rPr lang="en-US" sz="3200" b="1" dirty="0">
                <a:solidFill>
                  <a:schemeClr val="tx2"/>
                </a:solidFill>
                <a:latin typeface="Times New Roman" panose="02020603050405020304" pitchFamily="18" charset="0"/>
                <a:ea typeface="Times New Roman" panose="02020603050405020304" pitchFamily="18" charset="0"/>
              </a:rPr>
            </a:br>
            <a:r>
              <a:rPr lang="en-US" sz="3200" b="1" dirty="0">
                <a:solidFill>
                  <a:schemeClr val="tx2"/>
                </a:solidFill>
                <a:latin typeface="Times New Roman" panose="02020603050405020304" pitchFamily="18" charset="0"/>
                <a:ea typeface="Times New Roman" panose="02020603050405020304" pitchFamily="18" charset="0"/>
              </a:rPr>
              <a:t/>
            </a:r>
            <a:br>
              <a:rPr lang="en-US" sz="3200" b="1" dirty="0">
                <a:solidFill>
                  <a:schemeClr val="tx2"/>
                </a:solidFill>
                <a:latin typeface="Times New Roman" panose="02020603050405020304" pitchFamily="18" charset="0"/>
                <a:ea typeface="Times New Roman" panose="02020603050405020304" pitchFamily="18" charset="0"/>
              </a:rPr>
            </a:br>
            <a:r>
              <a:rPr lang="en-US" sz="3200" b="1" dirty="0">
                <a:solidFill>
                  <a:schemeClr val="tx2"/>
                </a:solidFill>
                <a:latin typeface="Times New Roman" panose="02020603050405020304" pitchFamily="18" charset="0"/>
                <a:ea typeface="Times New Roman" panose="02020603050405020304" pitchFamily="18" charset="0"/>
              </a:rPr>
              <a:t/>
            </a:r>
            <a:br>
              <a:rPr lang="en-US" sz="3200" b="1" dirty="0">
                <a:solidFill>
                  <a:schemeClr val="tx2"/>
                </a:solidFill>
                <a:latin typeface="Times New Roman" panose="02020603050405020304" pitchFamily="18" charset="0"/>
                <a:ea typeface="Times New Roman" panose="02020603050405020304" pitchFamily="18" charset="0"/>
              </a:rPr>
            </a:br>
            <a:endParaRPr lang="en-IN" sz="3200" b="1" dirty="0">
              <a:solidFill>
                <a:schemeClr val="tx2"/>
              </a:solidFill>
              <a:latin typeface="Times New Roman" panose="02020603050405020304" pitchFamily="18" charset="0"/>
              <a:ea typeface="Times New Roman" panose="02020603050405020304" pitchFamily="18" charset="0"/>
            </a:endParaRPr>
          </a:p>
        </p:txBody>
      </p:sp>
      <p:sp>
        <p:nvSpPr>
          <p:cNvPr id="3" name="TextBox 2">
            <a:extLst>
              <a:ext uri="{FF2B5EF4-FFF2-40B4-BE49-F238E27FC236}">
                <a16:creationId xmlns:a16="http://schemas.microsoft.com/office/drawing/2014/main" id="{3096A29A-ADB7-3333-62E5-44DE3C3EABE0}"/>
              </a:ext>
            </a:extLst>
          </p:cNvPr>
          <p:cNvSpPr txBox="1"/>
          <p:nvPr/>
        </p:nvSpPr>
        <p:spPr>
          <a:xfrm>
            <a:off x="1295400" y="4343400"/>
            <a:ext cx="3733800" cy="1200329"/>
          </a:xfrm>
          <a:prstGeom prst="rect">
            <a:avLst/>
          </a:prstGeom>
          <a:noFill/>
        </p:spPr>
        <p:txBody>
          <a:bodyPr wrap="square" rtlCol="0">
            <a:spAutoFit/>
          </a:bodyPr>
          <a:lstStyle/>
          <a:p>
            <a:r>
              <a:rPr lang="en-US" dirty="0"/>
              <a:t>GUIDED BY,</a:t>
            </a:r>
          </a:p>
          <a:p>
            <a:r>
              <a:rPr lang="en-US" dirty="0"/>
              <a:t>SUPERVISOR NAME</a:t>
            </a:r>
          </a:p>
          <a:p>
            <a:r>
              <a:rPr lang="en-US" dirty="0"/>
              <a:t>DESIGNATION          </a:t>
            </a:r>
          </a:p>
          <a:p>
            <a:endParaRPr lang="en-US" dirty="0"/>
          </a:p>
        </p:txBody>
      </p:sp>
      <p:sp>
        <p:nvSpPr>
          <p:cNvPr id="4" name="TextBox 3">
            <a:extLst>
              <a:ext uri="{FF2B5EF4-FFF2-40B4-BE49-F238E27FC236}">
                <a16:creationId xmlns:a16="http://schemas.microsoft.com/office/drawing/2014/main" id="{CDDB0FD1-E58D-5403-3AA1-7650C1C3915B}"/>
              </a:ext>
            </a:extLst>
          </p:cNvPr>
          <p:cNvSpPr txBox="1"/>
          <p:nvPr/>
        </p:nvSpPr>
        <p:spPr>
          <a:xfrm>
            <a:off x="7772400" y="4204900"/>
            <a:ext cx="3733800" cy="1477328"/>
          </a:xfrm>
          <a:prstGeom prst="rect">
            <a:avLst/>
          </a:prstGeom>
          <a:noFill/>
        </p:spPr>
        <p:txBody>
          <a:bodyPr wrap="square" rtlCol="0">
            <a:spAutoFit/>
          </a:bodyPr>
          <a:lstStyle/>
          <a:p>
            <a:pPr algn="r"/>
            <a:r>
              <a:rPr lang="en-US" dirty="0"/>
              <a:t>PRESENTED BY,</a:t>
            </a:r>
          </a:p>
          <a:p>
            <a:pPr algn="r"/>
            <a:r>
              <a:rPr lang="en-US" dirty="0"/>
              <a:t>STUDENT NAME</a:t>
            </a:r>
          </a:p>
          <a:p>
            <a:pPr algn="r"/>
            <a:r>
              <a:rPr lang="en-US" dirty="0"/>
              <a:t>ROLL NO</a:t>
            </a:r>
          </a:p>
          <a:p>
            <a:pPr algn="r"/>
            <a:r>
              <a:rPr lang="en-US" dirty="0"/>
              <a:t>DEPARTMENT</a:t>
            </a:r>
          </a:p>
          <a:p>
            <a:endParaRPr lang="en-US" dirty="0"/>
          </a:p>
        </p:txBody>
      </p:sp>
      <p:sp>
        <p:nvSpPr>
          <p:cNvPr id="5" name="Date Placeholder 4">
            <a:extLst>
              <a:ext uri="{FF2B5EF4-FFF2-40B4-BE49-F238E27FC236}">
                <a16:creationId xmlns:a16="http://schemas.microsoft.com/office/drawing/2014/main" id="{E4CF95D9-2417-6C88-E8C2-9D1306CE987C}"/>
              </a:ext>
            </a:extLst>
          </p:cNvPr>
          <p:cNvSpPr>
            <a:spLocks noGrp="1"/>
          </p:cNvSpPr>
          <p:nvPr>
            <p:ph type="dt" sz="half" idx="6"/>
          </p:nvPr>
        </p:nvSpPr>
        <p:spPr/>
        <p:txBody>
          <a:bodyPr/>
          <a:lstStyle/>
          <a:p>
            <a:fld id="{3EEB7323-D9EE-ED4E-BE47-FED24E03FAC0}" type="datetime1">
              <a:rPr lang="en-IN" smtClean="0"/>
              <a:t>13-08-2026</a:t>
            </a:fld>
            <a:endParaRPr lang="en-US"/>
          </a:p>
        </p:txBody>
      </p:sp>
      <p:sp>
        <p:nvSpPr>
          <p:cNvPr id="6" name="Footer Placeholder 5">
            <a:extLst>
              <a:ext uri="{FF2B5EF4-FFF2-40B4-BE49-F238E27FC236}">
                <a16:creationId xmlns:a16="http://schemas.microsoft.com/office/drawing/2014/main" id="{A9F2D694-AC72-B2C9-FEB7-B1CC1965ECA7}"/>
              </a:ext>
            </a:extLst>
          </p:cNvPr>
          <p:cNvSpPr>
            <a:spLocks noGrp="1"/>
          </p:cNvSpPr>
          <p:nvPr>
            <p:ph type="ftr" sz="quarter" idx="5"/>
          </p:nvPr>
        </p:nvSpPr>
        <p:spPr/>
        <p:txBody>
          <a:bodyPr/>
          <a:lstStyle/>
          <a:p>
            <a:r>
              <a:rPr lang="en-IN"/>
              <a:t>zeroth review-Dissertation-I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CD1796-85DB-F26C-5FC9-4990AF7CF66C}"/>
              </a:ext>
            </a:extLst>
          </p:cNvPr>
          <p:cNvSpPr>
            <a:spLocks noGrp="1"/>
          </p:cNvSpPr>
          <p:nvPr>
            <p:ph type="title"/>
          </p:nvPr>
        </p:nvSpPr>
        <p:spPr>
          <a:xfrm>
            <a:off x="2231543" y="381001"/>
            <a:ext cx="7466965" cy="430887"/>
          </a:xfrm>
        </p:spPr>
        <p:txBody>
          <a:bodyPr/>
          <a:lstStyle/>
          <a:p>
            <a:r>
              <a:rPr lang="en-IN" dirty="0"/>
              <a:t>Overview</a:t>
            </a:r>
          </a:p>
        </p:txBody>
      </p:sp>
      <p:sp>
        <p:nvSpPr>
          <p:cNvPr id="4" name="Text Placeholder 3">
            <a:extLst>
              <a:ext uri="{FF2B5EF4-FFF2-40B4-BE49-F238E27FC236}">
                <a16:creationId xmlns:a16="http://schemas.microsoft.com/office/drawing/2014/main" id="{0355EECF-2638-507C-C8FB-7CA7DB47B9AB}"/>
              </a:ext>
            </a:extLst>
          </p:cNvPr>
          <p:cNvSpPr>
            <a:spLocks noGrp="1"/>
          </p:cNvSpPr>
          <p:nvPr>
            <p:ph type="body" idx="1"/>
          </p:nvPr>
        </p:nvSpPr>
        <p:spPr>
          <a:xfrm>
            <a:off x="2231543" y="1293870"/>
            <a:ext cx="7381849" cy="3447098"/>
          </a:xfrm>
        </p:spPr>
        <p:txBody>
          <a:bodyPr/>
          <a:lstStyle/>
          <a:p>
            <a:pPr marL="457200" indent="-457200">
              <a:buFont typeface="Arial" panose="020B0604020202020204" pitchFamily="34" charset="0"/>
              <a:buChar char="•"/>
            </a:pPr>
            <a:r>
              <a:rPr lang="en-IN" dirty="0"/>
              <a:t>Title Slide</a:t>
            </a:r>
          </a:p>
          <a:p>
            <a:pPr marL="457200" indent="-457200">
              <a:buFont typeface="Arial" panose="020B0604020202020204" pitchFamily="34" charset="0"/>
              <a:buChar char="•"/>
            </a:pPr>
            <a:r>
              <a:rPr lang="en-IN" dirty="0"/>
              <a:t>Abstract</a:t>
            </a:r>
          </a:p>
          <a:p>
            <a:pPr marL="457200" indent="-457200">
              <a:buFont typeface="Arial" panose="020B0604020202020204" pitchFamily="34" charset="0"/>
              <a:buChar char="•"/>
            </a:pPr>
            <a:r>
              <a:rPr lang="en-IN" dirty="0"/>
              <a:t>Problem Statement</a:t>
            </a:r>
          </a:p>
          <a:p>
            <a:pPr marL="457200" indent="-457200">
              <a:buFont typeface="Arial" panose="020B0604020202020204" pitchFamily="34" charset="0"/>
              <a:buChar char="•"/>
            </a:pPr>
            <a:r>
              <a:rPr lang="en-IN" dirty="0"/>
              <a:t>Proposed Method</a:t>
            </a:r>
          </a:p>
          <a:p>
            <a:pPr marL="457200" indent="-457200">
              <a:buFont typeface="Arial" panose="020B0604020202020204" pitchFamily="34" charset="0"/>
              <a:buChar char="•"/>
            </a:pPr>
            <a:r>
              <a:rPr lang="en-IN" dirty="0"/>
              <a:t>Hardware &amp; Software Details</a:t>
            </a:r>
          </a:p>
          <a:p>
            <a:pPr marL="457200" indent="-457200">
              <a:buFont typeface="Arial" panose="020B0604020202020204" pitchFamily="34" charset="0"/>
              <a:buChar char="•"/>
            </a:pPr>
            <a:r>
              <a:rPr lang="en-IN" dirty="0"/>
              <a:t>References</a:t>
            </a:r>
          </a:p>
          <a:p>
            <a:endParaRPr lang="en-IN" dirty="0"/>
          </a:p>
          <a:p>
            <a:endParaRPr lang="en-IN" dirty="0"/>
          </a:p>
        </p:txBody>
      </p:sp>
      <p:sp>
        <p:nvSpPr>
          <p:cNvPr id="2" name="Date Placeholder 1">
            <a:extLst>
              <a:ext uri="{FF2B5EF4-FFF2-40B4-BE49-F238E27FC236}">
                <a16:creationId xmlns:a16="http://schemas.microsoft.com/office/drawing/2014/main" id="{43F29DF6-756B-0795-7AE7-04B5E1AE3DD0}"/>
              </a:ext>
            </a:extLst>
          </p:cNvPr>
          <p:cNvSpPr>
            <a:spLocks noGrp="1"/>
          </p:cNvSpPr>
          <p:nvPr>
            <p:ph type="dt" sz="half" idx="6"/>
          </p:nvPr>
        </p:nvSpPr>
        <p:spPr/>
        <p:txBody>
          <a:bodyPr/>
          <a:lstStyle/>
          <a:p>
            <a:fld id="{E292530A-74E1-E241-8818-029AF97F56A0}" type="datetime1">
              <a:rPr lang="en-IN" smtClean="0"/>
              <a:t>13-08-2026</a:t>
            </a:fld>
            <a:endParaRPr lang="en-US"/>
          </a:p>
        </p:txBody>
      </p:sp>
      <p:sp>
        <p:nvSpPr>
          <p:cNvPr id="5" name="Footer Placeholder 4">
            <a:extLst>
              <a:ext uri="{FF2B5EF4-FFF2-40B4-BE49-F238E27FC236}">
                <a16:creationId xmlns:a16="http://schemas.microsoft.com/office/drawing/2014/main" id="{1E550D82-C4F9-843A-6360-C9185F4D8321}"/>
              </a:ext>
            </a:extLst>
          </p:cNvPr>
          <p:cNvSpPr>
            <a:spLocks noGrp="1"/>
          </p:cNvSpPr>
          <p:nvPr>
            <p:ph type="ftr" sz="quarter" idx="5"/>
          </p:nvPr>
        </p:nvSpPr>
        <p:spPr/>
        <p:txBody>
          <a:bodyPr/>
          <a:lstStyle/>
          <a:p>
            <a:r>
              <a:rPr lang="en-IN"/>
              <a:t>zeroth review-Dissertation-I</a:t>
            </a:r>
          </a:p>
        </p:txBody>
      </p:sp>
    </p:spTree>
    <p:extLst>
      <p:ext uri="{BB962C8B-B14F-4D97-AF65-F5344CB8AC3E}">
        <p14:creationId xmlns:p14="http://schemas.microsoft.com/office/powerpoint/2010/main" val="1022429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CD1796-85DB-F26C-5FC9-4990AF7CF66C}"/>
              </a:ext>
            </a:extLst>
          </p:cNvPr>
          <p:cNvSpPr>
            <a:spLocks noGrp="1"/>
          </p:cNvSpPr>
          <p:nvPr>
            <p:ph type="title"/>
          </p:nvPr>
        </p:nvSpPr>
        <p:spPr>
          <a:xfrm>
            <a:off x="2231543" y="381001"/>
            <a:ext cx="7466965" cy="430887"/>
          </a:xfrm>
        </p:spPr>
        <p:txBody>
          <a:bodyPr/>
          <a:lstStyle/>
          <a:p>
            <a:r>
              <a:rPr lang="en-IN" dirty="0"/>
              <a:t>Abstract</a:t>
            </a:r>
          </a:p>
        </p:txBody>
      </p:sp>
      <p:sp>
        <p:nvSpPr>
          <p:cNvPr id="4" name="Text Placeholder 3">
            <a:extLst>
              <a:ext uri="{FF2B5EF4-FFF2-40B4-BE49-F238E27FC236}">
                <a16:creationId xmlns:a16="http://schemas.microsoft.com/office/drawing/2014/main" id="{0355EECF-2638-507C-C8FB-7CA7DB47B9AB}"/>
              </a:ext>
            </a:extLst>
          </p:cNvPr>
          <p:cNvSpPr>
            <a:spLocks noGrp="1"/>
          </p:cNvSpPr>
          <p:nvPr>
            <p:ph type="body" idx="1"/>
          </p:nvPr>
        </p:nvSpPr>
        <p:spPr>
          <a:xfrm>
            <a:off x="533400" y="685800"/>
            <a:ext cx="11201399" cy="4756121"/>
          </a:xfrm>
        </p:spPr>
        <p:txBody>
          <a:bodyPr/>
          <a:lstStyle/>
          <a:p>
            <a:pPr algn="just">
              <a:lnSpc>
                <a:spcPct val="150000"/>
              </a:lnSpc>
            </a:pPr>
            <a:r>
              <a:rPr lang="en-US" sz="1800" dirty="0"/>
              <a:t>The proposed project presents an </a:t>
            </a:r>
            <a:r>
              <a:rPr lang="en-US" sz="1800" b="1" dirty="0"/>
              <a:t>AI-Based Intelligent Question Paper Generation System</a:t>
            </a:r>
            <a:r>
              <a:rPr lang="en-US" sz="1800" dirty="0"/>
              <a:t> that automatically creates customized and multiple unique question-paper sets based on an institute’s official course plan. The system provides a web-based interface where faculty can upload course plans in PDF, DOC, or DOCX format, select modules, define total marks, specify question types and marks distribution, and optionally configure Course Outcomes (COs) and cognitive levels. NLP, document processing, embeddings, and Retrieval-Augmented Generation (RAG) are used to extract modules, topics, subtopics, COs, and syllabus content. An LLM generates conceptual, application-based, scenario-based, and higher-order questions according to faculty requirements. Each question is mapped with its marks and CO level. Semantic similarity techniques identify and remove duplicate or conceptually similar questions across sets. A validation engine verifies marks, module distribution, syllabus relevance, difficulty, and uniqueness. Faculty can preview, edit, delete, regenerate, and approve questions. Approved papers are stored in a database and exported as PDF or DOCX, reducing workload while ensuring balanced, syllabus-oriented, and customizable question papers.</a:t>
            </a:r>
            <a:endParaRPr lang="en-IN" sz="1800" dirty="0"/>
          </a:p>
        </p:txBody>
      </p:sp>
      <p:sp>
        <p:nvSpPr>
          <p:cNvPr id="2" name="Date Placeholder 1">
            <a:extLst>
              <a:ext uri="{FF2B5EF4-FFF2-40B4-BE49-F238E27FC236}">
                <a16:creationId xmlns:a16="http://schemas.microsoft.com/office/drawing/2014/main" id="{B96AC279-FA3E-5B42-8EDB-31BF409C10E0}"/>
              </a:ext>
            </a:extLst>
          </p:cNvPr>
          <p:cNvSpPr>
            <a:spLocks noGrp="1"/>
          </p:cNvSpPr>
          <p:nvPr>
            <p:ph type="dt" sz="half" idx="6"/>
          </p:nvPr>
        </p:nvSpPr>
        <p:spPr/>
        <p:txBody>
          <a:bodyPr/>
          <a:lstStyle/>
          <a:p>
            <a:fld id="{68EECC0A-E74F-9F44-AB94-548E83E4FE55}" type="datetime1">
              <a:rPr lang="en-IN" smtClean="0"/>
              <a:t>13-08-2026</a:t>
            </a:fld>
            <a:endParaRPr lang="en-US"/>
          </a:p>
        </p:txBody>
      </p:sp>
      <p:sp>
        <p:nvSpPr>
          <p:cNvPr id="5" name="Footer Placeholder 4">
            <a:extLst>
              <a:ext uri="{FF2B5EF4-FFF2-40B4-BE49-F238E27FC236}">
                <a16:creationId xmlns:a16="http://schemas.microsoft.com/office/drawing/2014/main" id="{0577B98C-BDE6-EB7F-63BD-BCEBE49D089A}"/>
              </a:ext>
            </a:extLst>
          </p:cNvPr>
          <p:cNvSpPr>
            <a:spLocks noGrp="1"/>
          </p:cNvSpPr>
          <p:nvPr>
            <p:ph type="ftr" sz="quarter" idx="5"/>
          </p:nvPr>
        </p:nvSpPr>
        <p:spPr/>
        <p:txBody>
          <a:bodyPr/>
          <a:lstStyle/>
          <a:p>
            <a:r>
              <a:rPr lang="en-IN"/>
              <a:t>zeroth review-Dissertation-I</a:t>
            </a:r>
          </a:p>
        </p:txBody>
      </p:sp>
    </p:spTree>
    <p:extLst>
      <p:ext uri="{BB962C8B-B14F-4D97-AF65-F5344CB8AC3E}">
        <p14:creationId xmlns:p14="http://schemas.microsoft.com/office/powerpoint/2010/main" val="78106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CD1796-85DB-F26C-5FC9-4990AF7CF66C}"/>
              </a:ext>
            </a:extLst>
          </p:cNvPr>
          <p:cNvSpPr>
            <a:spLocks noGrp="1"/>
          </p:cNvSpPr>
          <p:nvPr>
            <p:ph type="title"/>
          </p:nvPr>
        </p:nvSpPr>
        <p:spPr>
          <a:xfrm>
            <a:off x="2231543" y="381001"/>
            <a:ext cx="7466965" cy="430887"/>
          </a:xfrm>
        </p:spPr>
        <p:txBody>
          <a:bodyPr/>
          <a:lstStyle/>
          <a:p>
            <a:r>
              <a:rPr lang="en-IN" dirty="0"/>
              <a:t>Problem Statement</a:t>
            </a:r>
          </a:p>
        </p:txBody>
      </p:sp>
      <p:sp>
        <p:nvSpPr>
          <p:cNvPr id="2" name="Date Placeholder 1">
            <a:extLst>
              <a:ext uri="{FF2B5EF4-FFF2-40B4-BE49-F238E27FC236}">
                <a16:creationId xmlns:a16="http://schemas.microsoft.com/office/drawing/2014/main" id="{4719CCFE-C449-B344-264A-B63013F9BC4F}"/>
              </a:ext>
            </a:extLst>
          </p:cNvPr>
          <p:cNvSpPr>
            <a:spLocks noGrp="1"/>
          </p:cNvSpPr>
          <p:nvPr>
            <p:ph type="dt" sz="half" idx="6"/>
          </p:nvPr>
        </p:nvSpPr>
        <p:spPr/>
        <p:txBody>
          <a:bodyPr/>
          <a:lstStyle/>
          <a:p>
            <a:fld id="{D5AE3E66-4B27-9C4B-92FB-D80304377E8B}" type="datetime1">
              <a:rPr lang="en-IN" smtClean="0"/>
              <a:t>13-08-2026</a:t>
            </a:fld>
            <a:endParaRPr lang="en-US"/>
          </a:p>
        </p:txBody>
      </p:sp>
      <p:sp>
        <p:nvSpPr>
          <p:cNvPr id="5" name="Footer Placeholder 4">
            <a:extLst>
              <a:ext uri="{FF2B5EF4-FFF2-40B4-BE49-F238E27FC236}">
                <a16:creationId xmlns:a16="http://schemas.microsoft.com/office/drawing/2014/main" id="{806F59F6-F73D-6B86-C251-D4165DF8F761}"/>
              </a:ext>
            </a:extLst>
          </p:cNvPr>
          <p:cNvSpPr>
            <a:spLocks noGrp="1"/>
          </p:cNvSpPr>
          <p:nvPr>
            <p:ph type="ftr" sz="quarter" idx="5"/>
          </p:nvPr>
        </p:nvSpPr>
        <p:spPr/>
        <p:txBody>
          <a:bodyPr/>
          <a:lstStyle/>
          <a:p>
            <a:r>
              <a:rPr lang="en-IN"/>
              <a:t>zeroth review-Dissertation-I</a:t>
            </a:r>
          </a:p>
        </p:txBody>
      </p:sp>
      <p:sp>
        <p:nvSpPr>
          <p:cNvPr id="4" name="Rectangle 1">
            <a:extLst>
              <a:ext uri="{FF2B5EF4-FFF2-40B4-BE49-F238E27FC236}">
                <a16:creationId xmlns:a16="http://schemas.microsoft.com/office/drawing/2014/main" id="{00A33392-182A-F22F-25A2-ABF2BB4E344A}"/>
              </a:ext>
            </a:extLst>
          </p:cNvPr>
          <p:cNvSpPr>
            <a:spLocks noGrp="1" noChangeArrowheads="1"/>
          </p:cNvSpPr>
          <p:nvPr>
            <p:ph type="body" idx="1"/>
          </p:nvPr>
        </p:nvSpPr>
        <p:spPr bwMode="auto">
          <a:xfrm>
            <a:off x="533400" y="1080691"/>
            <a:ext cx="113538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Manual Question Paper Preparation:</a:t>
            </a:r>
            <a:r>
              <a:rPr kumimoji="0" lang="en-US" altLang="en-US" sz="1800" b="0" i="0" u="none" strike="noStrike" cap="none" normalizeH="0" baseline="0" dirty="0">
                <a:ln>
                  <a:noFill/>
                </a:ln>
                <a:solidFill>
                  <a:schemeClr val="tx1"/>
                </a:solidFill>
                <a:effectLst/>
                <a:latin typeface="Arial" panose="020B0604020202020204" pitchFamily="34" charset="0"/>
              </a:rPr>
              <a:t> Faculty members spend significant time manually preparing question papers, selecting questions, assigning marks, and ensuring proper syllabus coverage.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Limited Customization:</a:t>
            </a:r>
            <a:r>
              <a:rPr kumimoji="0" lang="en-US" altLang="en-US" sz="1800" b="0" i="0" u="none" strike="noStrike" cap="none" normalizeH="0" baseline="0" dirty="0">
                <a:ln>
                  <a:noFill/>
                </a:ln>
                <a:solidFill>
                  <a:schemeClr val="tx1"/>
                </a:solidFill>
                <a:effectLst/>
                <a:latin typeface="Arial" panose="020B0604020202020204" pitchFamily="34" charset="0"/>
              </a:rPr>
              <a:t> Existing question-paper generation systems often follow fixed marks patterns and predefined templates, making it difficult for faculty to specify their own question types, module-wise distribution, total marks, COs, and cognitive levels.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Duplicate and Repetitive Questions:</a:t>
            </a:r>
            <a:r>
              <a:rPr kumimoji="0" lang="en-US" altLang="en-US" sz="1800" b="0" i="0" u="none" strike="noStrike" cap="none" normalizeH="0" baseline="0" dirty="0">
                <a:ln>
                  <a:noFill/>
                </a:ln>
                <a:solidFill>
                  <a:schemeClr val="tx1"/>
                </a:solidFill>
                <a:effectLst/>
                <a:latin typeface="Arial" panose="020B0604020202020204" pitchFamily="34" charset="0"/>
              </a:rPr>
              <a:t> Generating multiple question-paper sets manually can result in repeated or semantically similar questions, reducing the uniqueness and quality of different sets.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Difficulty in Maintaining Academic Standards:</a:t>
            </a:r>
            <a:r>
              <a:rPr kumimoji="0" lang="en-US" altLang="en-US" sz="1800" b="0" i="0" u="none" strike="noStrike" cap="none" normalizeH="0" baseline="0" dirty="0">
                <a:ln>
                  <a:noFill/>
                </a:ln>
                <a:solidFill>
                  <a:schemeClr val="tx1"/>
                </a:solidFill>
                <a:effectLst/>
                <a:latin typeface="Arial" panose="020B0604020202020204" pitchFamily="34" charset="0"/>
              </a:rPr>
              <a:t> Ensuring proper syllabus coverage, Course Outcome (CO) mapping, Bloom’s cognitive levels, question difficulty, and accurate marks distribution is challenging during manual preparation.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Lack of Automated Validation:</a:t>
            </a:r>
            <a:r>
              <a:rPr kumimoji="0" lang="en-US" altLang="en-US" sz="1800" b="0" i="0" u="none" strike="noStrike" cap="none" normalizeH="0" baseline="0" dirty="0">
                <a:ln>
                  <a:noFill/>
                </a:ln>
                <a:solidFill>
                  <a:schemeClr val="tx1"/>
                </a:solidFill>
                <a:effectLst/>
                <a:latin typeface="Arial" panose="020B0604020202020204" pitchFamily="34" charset="0"/>
              </a:rPr>
              <a:t> Existing approaches may not automatically verify whether the generated paper satisfies all specified constraints, creating the need for an intelligent system that can generate, validate, customize, and export multiple balanced question-paper sets efficiently. </a:t>
            </a:r>
          </a:p>
        </p:txBody>
      </p:sp>
    </p:spTree>
    <p:extLst>
      <p:ext uri="{BB962C8B-B14F-4D97-AF65-F5344CB8AC3E}">
        <p14:creationId xmlns:p14="http://schemas.microsoft.com/office/powerpoint/2010/main" val="395857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CD1796-85DB-F26C-5FC9-4990AF7CF66C}"/>
              </a:ext>
            </a:extLst>
          </p:cNvPr>
          <p:cNvSpPr>
            <a:spLocks noGrp="1"/>
          </p:cNvSpPr>
          <p:nvPr>
            <p:ph type="title"/>
          </p:nvPr>
        </p:nvSpPr>
        <p:spPr>
          <a:xfrm>
            <a:off x="228601" y="203061"/>
            <a:ext cx="9469908" cy="608827"/>
          </a:xfrm>
        </p:spPr>
        <p:txBody>
          <a:bodyPr/>
          <a:lstStyle/>
          <a:p>
            <a:r>
              <a:rPr lang="en-IN" dirty="0"/>
              <a:t>Proposed Method</a:t>
            </a:r>
          </a:p>
        </p:txBody>
      </p:sp>
      <p:sp>
        <p:nvSpPr>
          <p:cNvPr id="2" name="Date Placeholder 1">
            <a:extLst>
              <a:ext uri="{FF2B5EF4-FFF2-40B4-BE49-F238E27FC236}">
                <a16:creationId xmlns:a16="http://schemas.microsoft.com/office/drawing/2014/main" id="{5B27DE71-C190-DD09-0288-654B634E52BD}"/>
              </a:ext>
            </a:extLst>
          </p:cNvPr>
          <p:cNvSpPr>
            <a:spLocks noGrp="1"/>
          </p:cNvSpPr>
          <p:nvPr>
            <p:ph type="dt" sz="half" idx="6"/>
          </p:nvPr>
        </p:nvSpPr>
        <p:spPr/>
        <p:txBody>
          <a:bodyPr/>
          <a:lstStyle/>
          <a:p>
            <a:fld id="{7D59D469-4ED7-A64F-A3CA-015F81E46767}" type="datetime1">
              <a:rPr lang="en-IN" smtClean="0"/>
              <a:t>13-08-2026</a:t>
            </a:fld>
            <a:endParaRPr lang="en-US"/>
          </a:p>
        </p:txBody>
      </p:sp>
      <p:sp>
        <p:nvSpPr>
          <p:cNvPr id="5" name="Footer Placeholder 4">
            <a:extLst>
              <a:ext uri="{FF2B5EF4-FFF2-40B4-BE49-F238E27FC236}">
                <a16:creationId xmlns:a16="http://schemas.microsoft.com/office/drawing/2014/main" id="{76AF7335-AAF2-DCC2-C642-700E50986D25}"/>
              </a:ext>
            </a:extLst>
          </p:cNvPr>
          <p:cNvSpPr>
            <a:spLocks noGrp="1"/>
          </p:cNvSpPr>
          <p:nvPr>
            <p:ph type="ftr" sz="quarter" idx="5"/>
          </p:nvPr>
        </p:nvSpPr>
        <p:spPr/>
        <p:txBody>
          <a:bodyPr/>
          <a:lstStyle/>
          <a:p>
            <a:r>
              <a:rPr lang="en-IN"/>
              <a:t>zeroth review-Dissertation-I</a:t>
            </a:r>
          </a:p>
        </p:txBody>
      </p:sp>
      <p:pic>
        <p:nvPicPr>
          <p:cNvPr id="6" name="Picture 5">
            <a:extLst>
              <a:ext uri="{FF2B5EF4-FFF2-40B4-BE49-F238E27FC236}">
                <a16:creationId xmlns:a16="http://schemas.microsoft.com/office/drawing/2014/main" id="{ED185A15-92C5-435B-4A67-93DF97D28763}"/>
              </a:ext>
            </a:extLst>
          </p:cNvPr>
          <p:cNvPicPr>
            <a:picLocks noChangeAspect="1"/>
          </p:cNvPicPr>
          <p:nvPr/>
        </p:nvPicPr>
        <p:blipFill>
          <a:blip r:embed="rId2"/>
          <a:srcRect l="1112" t="7778" b="8889"/>
          <a:stretch/>
        </p:blipFill>
        <p:spPr>
          <a:xfrm>
            <a:off x="2287143" y="609600"/>
            <a:ext cx="9066657" cy="4800600"/>
          </a:xfrm>
          <a:prstGeom prst="rect">
            <a:avLst/>
          </a:prstGeom>
        </p:spPr>
      </p:pic>
    </p:spTree>
    <p:extLst>
      <p:ext uri="{BB962C8B-B14F-4D97-AF65-F5344CB8AC3E}">
        <p14:creationId xmlns:p14="http://schemas.microsoft.com/office/powerpoint/2010/main" val="3907364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CD1796-85DB-F26C-5FC9-4990AF7CF66C}"/>
              </a:ext>
            </a:extLst>
          </p:cNvPr>
          <p:cNvSpPr>
            <a:spLocks noGrp="1"/>
          </p:cNvSpPr>
          <p:nvPr>
            <p:ph type="title"/>
          </p:nvPr>
        </p:nvSpPr>
        <p:spPr>
          <a:xfrm>
            <a:off x="2231543" y="381001"/>
            <a:ext cx="7466965" cy="430887"/>
          </a:xfrm>
        </p:spPr>
        <p:txBody>
          <a:bodyPr/>
          <a:lstStyle/>
          <a:p>
            <a:r>
              <a:rPr lang="en-IN" dirty="0"/>
              <a:t>Hardware &amp; Software Details</a:t>
            </a:r>
          </a:p>
        </p:txBody>
      </p:sp>
      <p:sp>
        <p:nvSpPr>
          <p:cNvPr id="2" name="Date Placeholder 1">
            <a:extLst>
              <a:ext uri="{FF2B5EF4-FFF2-40B4-BE49-F238E27FC236}">
                <a16:creationId xmlns:a16="http://schemas.microsoft.com/office/drawing/2014/main" id="{CC430D41-F3FD-1BA5-275D-EECF671657F0}"/>
              </a:ext>
            </a:extLst>
          </p:cNvPr>
          <p:cNvSpPr>
            <a:spLocks noGrp="1"/>
          </p:cNvSpPr>
          <p:nvPr>
            <p:ph type="dt" sz="half" idx="6"/>
          </p:nvPr>
        </p:nvSpPr>
        <p:spPr/>
        <p:txBody>
          <a:bodyPr/>
          <a:lstStyle/>
          <a:p>
            <a:fld id="{6C6FC5D2-2488-834B-876B-6278EFC5D8B4}" type="datetime1">
              <a:rPr lang="en-IN" smtClean="0"/>
              <a:t>13-08-2026</a:t>
            </a:fld>
            <a:endParaRPr lang="en-US"/>
          </a:p>
        </p:txBody>
      </p:sp>
      <p:sp>
        <p:nvSpPr>
          <p:cNvPr id="5" name="Footer Placeholder 4">
            <a:extLst>
              <a:ext uri="{FF2B5EF4-FFF2-40B4-BE49-F238E27FC236}">
                <a16:creationId xmlns:a16="http://schemas.microsoft.com/office/drawing/2014/main" id="{AC34476F-A01D-BE41-A223-D4934C74B049}"/>
              </a:ext>
            </a:extLst>
          </p:cNvPr>
          <p:cNvSpPr>
            <a:spLocks noGrp="1"/>
          </p:cNvSpPr>
          <p:nvPr>
            <p:ph type="ftr" sz="quarter" idx="5"/>
          </p:nvPr>
        </p:nvSpPr>
        <p:spPr/>
        <p:txBody>
          <a:bodyPr/>
          <a:lstStyle/>
          <a:p>
            <a:r>
              <a:rPr lang="en-IN"/>
              <a:t>zeroth review-Dissertation-I</a:t>
            </a:r>
          </a:p>
        </p:txBody>
      </p:sp>
      <p:sp>
        <p:nvSpPr>
          <p:cNvPr id="6" name="TextBox 5">
            <a:extLst>
              <a:ext uri="{FF2B5EF4-FFF2-40B4-BE49-F238E27FC236}">
                <a16:creationId xmlns:a16="http://schemas.microsoft.com/office/drawing/2014/main" id="{850D93AD-2EE7-860A-017E-8E71098FC83B}"/>
              </a:ext>
            </a:extLst>
          </p:cNvPr>
          <p:cNvSpPr txBox="1"/>
          <p:nvPr/>
        </p:nvSpPr>
        <p:spPr>
          <a:xfrm>
            <a:off x="685800" y="1066800"/>
            <a:ext cx="4419600" cy="3373359"/>
          </a:xfrm>
          <a:prstGeom prst="rect">
            <a:avLst/>
          </a:prstGeom>
          <a:noFill/>
        </p:spPr>
        <p:txBody>
          <a:bodyPr wrap="square">
            <a:spAutoFit/>
          </a:bodyPr>
          <a:lstStyle/>
          <a:p>
            <a:pPr>
              <a:lnSpc>
                <a:spcPct val="150000"/>
              </a:lnSpc>
            </a:pPr>
            <a:r>
              <a:rPr lang="en-IN" b="1" dirty="0"/>
              <a:t>Hardware Details</a:t>
            </a:r>
          </a:p>
          <a:p>
            <a:pPr marL="285750" indent="-285750">
              <a:lnSpc>
                <a:spcPct val="150000"/>
              </a:lnSpc>
              <a:buFont typeface="Wingdings" panose="05000000000000000000" pitchFamily="2" charset="2"/>
              <a:buChar char="Ø"/>
            </a:pPr>
            <a:r>
              <a:rPr lang="en-IN" b="1" dirty="0"/>
              <a:t>Processor:</a:t>
            </a:r>
            <a:r>
              <a:rPr lang="en-IN" dirty="0"/>
              <a:t> Intel Core i5 or equivalent processor </a:t>
            </a:r>
          </a:p>
          <a:p>
            <a:pPr marL="285750" indent="-285750">
              <a:lnSpc>
                <a:spcPct val="150000"/>
              </a:lnSpc>
              <a:buFont typeface="Wingdings" panose="05000000000000000000" pitchFamily="2" charset="2"/>
              <a:buChar char="Ø"/>
            </a:pPr>
            <a:r>
              <a:rPr lang="en-IN" b="1" dirty="0"/>
              <a:t>RAM:</a:t>
            </a:r>
            <a:r>
              <a:rPr lang="en-IN" dirty="0"/>
              <a:t> Minimum 8 GB </a:t>
            </a:r>
          </a:p>
          <a:p>
            <a:pPr marL="285750" indent="-285750">
              <a:lnSpc>
                <a:spcPct val="150000"/>
              </a:lnSpc>
              <a:buFont typeface="Wingdings" panose="05000000000000000000" pitchFamily="2" charset="2"/>
              <a:buChar char="Ø"/>
            </a:pPr>
            <a:r>
              <a:rPr lang="en-IN" b="1" dirty="0"/>
              <a:t>Storage:</a:t>
            </a:r>
            <a:r>
              <a:rPr lang="en-IN" dirty="0"/>
              <a:t> Minimum 256 GB HDD/SSD </a:t>
            </a:r>
          </a:p>
          <a:p>
            <a:pPr marL="285750" indent="-285750">
              <a:lnSpc>
                <a:spcPct val="150000"/>
              </a:lnSpc>
              <a:buFont typeface="Wingdings" panose="05000000000000000000" pitchFamily="2" charset="2"/>
              <a:buChar char="Ø"/>
            </a:pPr>
            <a:r>
              <a:rPr lang="en-IN" b="1" dirty="0"/>
              <a:t>System Type:</a:t>
            </a:r>
            <a:r>
              <a:rPr lang="en-IN" dirty="0"/>
              <a:t> 64-bit operating system </a:t>
            </a:r>
          </a:p>
          <a:p>
            <a:pPr marL="285750" indent="-285750">
              <a:lnSpc>
                <a:spcPct val="150000"/>
              </a:lnSpc>
              <a:buFont typeface="Wingdings" panose="05000000000000000000" pitchFamily="2" charset="2"/>
              <a:buChar char="Ø"/>
            </a:pPr>
            <a:r>
              <a:rPr lang="en-IN" b="1" dirty="0"/>
              <a:t>Internet:</a:t>
            </a:r>
            <a:r>
              <a:rPr lang="en-IN" dirty="0"/>
              <a:t> Stable internet connection for AI and database services </a:t>
            </a:r>
          </a:p>
        </p:txBody>
      </p:sp>
      <p:sp>
        <p:nvSpPr>
          <p:cNvPr id="8" name="TextBox 7">
            <a:extLst>
              <a:ext uri="{FF2B5EF4-FFF2-40B4-BE49-F238E27FC236}">
                <a16:creationId xmlns:a16="http://schemas.microsoft.com/office/drawing/2014/main" id="{E1206827-8D54-6369-96FB-7E62B2969A6F}"/>
              </a:ext>
            </a:extLst>
          </p:cNvPr>
          <p:cNvSpPr txBox="1"/>
          <p:nvPr/>
        </p:nvSpPr>
        <p:spPr>
          <a:xfrm>
            <a:off x="6019800" y="1066800"/>
            <a:ext cx="5562600" cy="4619854"/>
          </a:xfrm>
          <a:prstGeom prst="rect">
            <a:avLst/>
          </a:prstGeom>
          <a:noFill/>
        </p:spPr>
        <p:txBody>
          <a:bodyPr wrap="square">
            <a:spAutoFit/>
          </a:bodyPr>
          <a:lstStyle/>
          <a:p>
            <a:pPr>
              <a:lnSpc>
                <a:spcPct val="150000"/>
              </a:lnSpc>
            </a:pPr>
            <a:r>
              <a:rPr lang="en-IN" b="1" dirty="0"/>
              <a:t>Software Details</a:t>
            </a:r>
          </a:p>
          <a:p>
            <a:pPr marL="285750" indent="-285750">
              <a:lnSpc>
                <a:spcPct val="150000"/>
              </a:lnSpc>
              <a:buFont typeface="Wingdings" panose="05000000000000000000" pitchFamily="2" charset="2"/>
              <a:buChar char="Ø"/>
            </a:pPr>
            <a:r>
              <a:rPr lang="en-IN" b="1" dirty="0"/>
              <a:t>Operating System:</a:t>
            </a:r>
            <a:r>
              <a:rPr lang="en-IN" dirty="0"/>
              <a:t> Windows 10/11 or Linux </a:t>
            </a:r>
          </a:p>
          <a:p>
            <a:pPr marL="285750" indent="-285750">
              <a:lnSpc>
                <a:spcPct val="150000"/>
              </a:lnSpc>
              <a:buFont typeface="Wingdings" panose="05000000000000000000" pitchFamily="2" charset="2"/>
              <a:buChar char="Ø"/>
            </a:pPr>
            <a:r>
              <a:rPr lang="en-IN" b="1" dirty="0"/>
              <a:t>Programming Language:</a:t>
            </a:r>
            <a:r>
              <a:rPr lang="en-IN" dirty="0"/>
              <a:t> Python </a:t>
            </a:r>
          </a:p>
          <a:p>
            <a:pPr marL="285750" indent="-285750">
              <a:lnSpc>
                <a:spcPct val="150000"/>
              </a:lnSpc>
              <a:buFont typeface="Wingdings" panose="05000000000000000000" pitchFamily="2" charset="2"/>
              <a:buChar char="Ø"/>
            </a:pPr>
            <a:r>
              <a:rPr lang="en-IN" b="1" dirty="0"/>
              <a:t>Frontend:</a:t>
            </a:r>
            <a:r>
              <a:rPr lang="en-IN" dirty="0"/>
              <a:t> HTML, CSS, JavaScript </a:t>
            </a:r>
          </a:p>
          <a:p>
            <a:pPr marL="285750" indent="-285750">
              <a:lnSpc>
                <a:spcPct val="150000"/>
              </a:lnSpc>
              <a:buFont typeface="Wingdings" panose="05000000000000000000" pitchFamily="2" charset="2"/>
              <a:buChar char="Ø"/>
            </a:pPr>
            <a:r>
              <a:rPr lang="en-IN" b="1" dirty="0"/>
              <a:t>Backend:</a:t>
            </a:r>
            <a:r>
              <a:rPr lang="en-IN" dirty="0"/>
              <a:t> Flask / Django </a:t>
            </a:r>
          </a:p>
          <a:p>
            <a:pPr marL="285750" indent="-285750">
              <a:lnSpc>
                <a:spcPct val="150000"/>
              </a:lnSpc>
              <a:buFont typeface="Wingdings" panose="05000000000000000000" pitchFamily="2" charset="2"/>
              <a:buChar char="Ø"/>
            </a:pPr>
            <a:r>
              <a:rPr lang="en-IN" b="1" dirty="0"/>
              <a:t>Database:</a:t>
            </a:r>
            <a:r>
              <a:rPr lang="en-IN" dirty="0"/>
              <a:t> MySQL / PostgreSQL </a:t>
            </a:r>
          </a:p>
          <a:p>
            <a:pPr marL="285750" indent="-285750">
              <a:lnSpc>
                <a:spcPct val="150000"/>
              </a:lnSpc>
              <a:buFont typeface="Wingdings" panose="05000000000000000000" pitchFamily="2" charset="2"/>
              <a:buChar char="Ø"/>
            </a:pPr>
            <a:r>
              <a:rPr lang="en-IN" b="1" dirty="0"/>
              <a:t>AI Tools:</a:t>
            </a:r>
            <a:r>
              <a:rPr lang="en-IN" dirty="0"/>
              <a:t> NLP, Embeddings, RAG, and LLM </a:t>
            </a:r>
          </a:p>
          <a:p>
            <a:pPr marL="285750" indent="-285750">
              <a:lnSpc>
                <a:spcPct val="150000"/>
              </a:lnSpc>
              <a:buFont typeface="Wingdings" panose="05000000000000000000" pitchFamily="2" charset="2"/>
              <a:buChar char="Ø"/>
            </a:pPr>
            <a:r>
              <a:rPr lang="en-IN" b="1" dirty="0"/>
              <a:t>Document Processing:</a:t>
            </a:r>
            <a:r>
              <a:rPr lang="en-IN" dirty="0"/>
              <a:t> PDF, DOC, and DOCX processing libraries </a:t>
            </a:r>
          </a:p>
          <a:p>
            <a:pPr marL="285750" indent="-285750">
              <a:lnSpc>
                <a:spcPct val="150000"/>
              </a:lnSpc>
              <a:buFont typeface="Wingdings" panose="05000000000000000000" pitchFamily="2" charset="2"/>
              <a:buChar char="Ø"/>
            </a:pPr>
            <a:r>
              <a:rPr lang="en-IN" b="1" dirty="0"/>
              <a:t>Development Tool:</a:t>
            </a:r>
            <a:r>
              <a:rPr lang="en-IN" dirty="0"/>
              <a:t> VS Code / </a:t>
            </a:r>
            <a:r>
              <a:rPr lang="en-IN" dirty="0" err="1"/>
              <a:t>Jupyter</a:t>
            </a:r>
            <a:r>
              <a:rPr lang="en-IN" dirty="0"/>
              <a:t> Notebook </a:t>
            </a:r>
          </a:p>
          <a:p>
            <a:pPr marL="285750" indent="-285750">
              <a:lnSpc>
                <a:spcPct val="150000"/>
              </a:lnSpc>
              <a:buFont typeface="Wingdings" panose="05000000000000000000" pitchFamily="2" charset="2"/>
              <a:buChar char="Ø"/>
            </a:pPr>
            <a:r>
              <a:rPr lang="en-IN" b="1" dirty="0"/>
              <a:t>Output:</a:t>
            </a:r>
            <a:r>
              <a:rPr lang="en-IN" dirty="0"/>
              <a:t> PDF and DOCX generation support</a:t>
            </a:r>
          </a:p>
        </p:txBody>
      </p:sp>
    </p:spTree>
    <p:extLst>
      <p:ext uri="{BB962C8B-B14F-4D97-AF65-F5344CB8AC3E}">
        <p14:creationId xmlns:p14="http://schemas.microsoft.com/office/powerpoint/2010/main" val="2392939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6D100-FDB3-4FD9-DC4F-FBA1681CC2C8}"/>
              </a:ext>
            </a:extLst>
          </p:cNvPr>
          <p:cNvSpPr>
            <a:spLocks noGrp="1"/>
          </p:cNvSpPr>
          <p:nvPr>
            <p:ph type="title"/>
          </p:nvPr>
        </p:nvSpPr>
        <p:spPr/>
        <p:txBody>
          <a:bodyPr/>
          <a:lstStyle/>
          <a:p>
            <a:r>
              <a:rPr lang="en-IN" dirty="0"/>
              <a:t>LITERATURE SURVEY</a:t>
            </a:r>
          </a:p>
        </p:txBody>
      </p:sp>
      <p:sp>
        <p:nvSpPr>
          <p:cNvPr id="4" name="Footer Placeholder 3">
            <a:extLst>
              <a:ext uri="{FF2B5EF4-FFF2-40B4-BE49-F238E27FC236}">
                <a16:creationId xmlns:a16="http://schemas.microsoft.com/office/drawing/2014/main" id="{B43700A5-7851-FB46-A9E9-5E58307FBF09}"/>
              </a:ext>
            </a:extLst>
          </p:cNvPr>
          <p:cNvSpPr>
            <a:spLocks noGrp="1"/>
          </p:cNvSpPr>
          <p:nvPr>
            <p:ph type="ftr" sz="quarter" idx="5"/>
          </p:nvPr>
        </p:nvSpPr>
        <p:spPr/>
        <p:txBody>
          <a:bodyPr/>
          <a:lstStyle/>
          <a:p>
            <a:r>
              <a:rPr lang="en-IN"/>
              <a:t>zeroth review-Dissertation-I</a:t>
            </a:r>
          </a:p>
        </p:txBody>
      </p:sp>
      <p:sp>
        <p:nvSpPr>
          <p:cNvPr id="5" name="Date Placeholder 4">
            <a:extLst>
              <a:ext uri="{FF2B5EF4-FFF2-40B4-BE49-F238E27FC236}">
                <a16:creationId xmlns:a16="http://schemas.microsoft.com/office/drawing/2014/main" id="{2CD32558-67E5-1156-53A1-448439A7004B}"/>
              </a:ext>
            </a:extLst>
          </p:cNvPr>
          <p:cNvSpPr>
            <a:spLocks noGrp="1"/>
          </p:cNvSpPr>
          <p:nvPr>
            <p:ph type="dt" sz="half" idx="6"/>
          </p:nvPr>
        </p:nvSpPr>
        <p:spPr/>
        <p:txBody>
          <a:bodyPr/>
          <a:lstStyle/>
          <a:p>
            <a:fld id="{765B16AA-8AD8-2745-88E2-8EF311F85238}" type="datetime1">
              <a:rPr lang="en-IN" smtClean="0"/>
              <a:t>13-08-2026</a:t>
            </a:fld>
            <a:endParaRPr lang="en-US"/>
          </a:p>
        </p:txBody>
      </p:sp>
      <p:graphicFrame>
        <p:nvGraphicFramePr>
          <p:cNvPr id="3" name="Table 2">
            <a:extLst>
              <a:ext uri="{FF2B5EF4-FFF2-40B4-BE49-F238E27FC236}">
                <a16:creationId xmlns:a16="http://schemas.microsoft.com/office/drawing/2014/main" id="{9A51F32C-DF17-B256-4D83-03ABBCD1C706}"/>
              </a:ext>
            </a:extLst>
          </p:cNvPr>
          <p:cNvGraphicFramePr>
            <a:graphicFrameLocks noGrp="1"/>
          </p:cNvGraphicFramePr>
          <p:nvPr>
            <p:extLst>
              <p:ext uri="{D42A27DB-BD31-4B8C-83A1-F6EECF244321}">
                <p14:modId xmlns:p14="http://schemas.microsoft.com/office/powerpoint/2010/main" val="295726424"/>
              </p:ext>
            </p:extLst>
          </p:nvPr>
        </p:nvGraphicFramePr>
        <p:xfrm>
          <a:off x="457200" y="461494"/>
          <a:ext cx="11506200" cy="5133480"/>
        </p:xfrm>
        <a:graphic>
          <a:graphicData uri="http://schemas.openxmlformats.org/drawingml/2006/table">
            <a:tbl>
              <a:tblPr>
                <a:tableStyleId>{5940675A-B579-460E-94D1-54222C63F5DA}</a:tableStyleId>
              </a:tblPr>
              <a:tblGrid>
                <a:gridCol w="555471">
                  <a:extLst>
                    <a:ext uri="{9D8B030D-6E8A-4147-A177-3AD203B41FA5}">
                      <a16:colId xmlns:a16="http://schemas.microsoft.com/office/drawing/2014/main" val="1784622"/>
                    </a:ext>
                  </a:extLst>
                </a:gridCol>
                <a:gridCol w="2996778">
                  <a:extLst>
                    <a:ext uri="{9D8B030D-6E8A-4147-A177-3AD203B41FA5}">
                      <a16:colId xmlns:a16="http://schemas.microsoft.com/office/drawing/2014/main" val="2867204368"/>
                    </a:ext>
                  </a:extLst>
                </a:gridCol>
                <a:gridCol w="1544456">
                  <a:extLst>
                    <a:ext uri="{9D8B030D-6E8A-4147-A177-3AD203B41FA5}">
                      <a16:colId xmlns:a16="http://schemas.microsoft.com/office/drawing/2014/main" val="1680027232"/>
                    </a:ext>
                  </a:extLst>
                </a:gridCol>
                <a:gridCol w="463337">
                  <a:extLst>
                    <a:ext uri="{9D8B030D-6E8A-4147-A177-3AD203B41FA5}">
                      <a16:colId xmlns:a16="http://schemas.microsoft.com/office/drawing/2014/main" val="1700110407"/>
                    </a:ext>
                  </a:extLst>
                </a:gridCol>
                <a:gridCol w="1776124">
                  <a:extLst>
                    <a:ext uri="{9D8B030D-6E8A-4147-A177-3AD203B41FA5}">
                      <a16:colId xmlns:a16="http://schemas.microsoft.com/office/drawing/2014/main" val="4098672960"/>
                    </a:ext>
                  </a:extLst>
                </a:gridCol>
                <a:gridCol w="1930570">
                  <a:extLst>
                    <a:ext uri="{9D8B030D-6E8A-4147-A177-3AD203B41FA5}">
                      <a16:colId xmlns:a16="http://schemas.microsoft.com/office/drawing/2014/main" val="1416872749"/>
                    </a:ext>
                  </a:extLst>
                </a:gridCol>
                <a:gridCol w="2239464">
                  <a:extLst>
                    <a:ext uri="{9D8B030D-6E8A-4147-A177-3AD203B41FA5}">
                      <a16:colId xmlns:a16="http://schemas.microsoft.com/office/drawing/2014/main" val="2462745496"/>
                    </a:ext>
                  </a:extLst>
                </a:gridCol>
              </a:tblGrid>
              <a:tr h="188550">
                <a:tc>
                  <a:txBody>
                    <a:bodyPr/>
                    <a:lstStyle/>
                    <a:p>
                      <a:pPr algn="ctr"/>
                      <a:r>
                        <a:rPr lang="en-IN" sz="1400" b="1"/>
                        <a:t>S.No</a:t>
                      </a:r>
                    </a:p>
                  </a:txBody>
                  <a:tcPr marL="2140" marR="2140" marT="1070" marB="1070" anchor="ctr"/>
                </a:tc>
                <a:tc>
                  <a:txBody>
                    <a:bodyPr/>
                    <a:lstStyle/>
                    <a:p>
                      <a:pPr algn="ctr"/>
                      <a:r>
                        <a:rPr lang="en-IN" sz="1400" b="1"/>
                        <a:t>Title</a:t>
                      </a:r>
                    </a:p>
                  </a:txBody>
                  <a:tcPr marL="2140" marR="2140" marT="1070" marB="1070" anchor="ctr"/>
                </a:tc>
                <a:tc>
                  <a:txBody>
                    <a:bodyPr/>
                    <a:lstStyle/>
                    <a:p>
                      <a:pPr algn="ctr"/>
                      <a:r>
                        <a:rPr lang="en-IN" sz="1400" b="1"/>
                        <a:t>Author</a:t>
                      </a:r>
                    </a:p>
                  </a:txBody>
                  <a:tcPr marL="2140" marR="2140" marT="1070" marB="1070" anchor="ctr"/>
                </a:tc>
                <a:tc>
                  <a:txBody>
                    <a:bodyPr/>
                    <a:lstStyle/>
                    <a:p>
                      <a:pPr algn="ctr"/>
                      <a:r>
                        <a:rPr lang="en-IN" sz="1400" b="1"/>
                        <a:t>Year</a:t>
                      </a:r>
                    </a:p>
                  </a:txBody>
                  <a:tcPr marL="2140" marR="2140" marT="1070" marB="1070" anchor="ctr"/>
                </a:tc>
                <a:tc>
                  <a:txBody>
                    <a:bodyPr/>
                    <a:lstStyle/>
                    <a:p>
                      <a:pPr algn="ctr"/>
                      <a:r>
                        <a:rPr lang="en-IN" sz="1400" b="1"/>
                        <a:t>Method</a:t>
                      </a:r>
                    </a:p>
                  </a:txBody>
                  <a:tcPr marL="2140" marR="2140" marT="1070" marB="1070" anchor="ctr"/>
                </a:tc>
                <a:tc>
                  <a:txBody>
                    <a:bodyPr/>
                    <a:lstStyle/>
                    <a:p>
                      <a:pPr algn="ctr"/>
                      <a:r>
                        <a:rPr lang="en-IN" sz="1400" b="1"/>
                        <a:t>Pros</a:t>
                      </a:r>
                    </a:p>
                  </a:txBody>
                  <a:tcPr marL="2140" marR="2140" marT="1070" marB="1070" anchor="ctr"/>
                </a:tc>
                <a:tc>
                  <a:txBody>
                    <a:bodyPr/>
                    <a:lstStyle/>
                    <a:p>
                      <a:pPr algn="ctr"/>
                      <a:r>
                        <a:rPr lang="en-IN" sz="1400" b="1" dirty="0"/>
                        <a:t>Cons</a:t>
                      </a:r>
                    </a:p>
                  </a:txBody>
                  <a:tcPr marL="2140" marR="2140" marT="1070" marB="1070" anchor="ctr"/>
                </a:tc>
                <a:extLst>
                  <a:ext uri="{0D108BD9-81ED-4DB2-BD59-A6C34878D82A}">
                    <a16:rowId xmlns:a16="http://schemas.microsoft.com/office/drawing/2014/main" val="2842511582"/>
                  </a:ext>
                </a:extLst>
              </a:tr>
              <a:tr h="748584">
                <a:tc>
                  <a:txBody>
                    <a:bodyPr/>
                    <a:lstStyle/>
                    <a:p>
                      <a:pPr algn="l"/>
                      <a:r>
                        <a:rPr lang="en-IN" sz="1400" b="1"/>
                        <a:t>1</a:t>
                      </a:r>
                      <a:endParaRPr lang="en-IN" sz="1400"/>
                    </a:p>
                  </a:txBody>
                  <a:tcPr marL="2140" marR="2140" marT="1070" marB="1070" anchor="ctr"/>
                </a:tc>
                <a:tc>
                  <a:txBody>
                    <a:bodyPr/>
                    <a:lstStyle/>
                    <a:p>
                      <a:pPr algn="l"/>
                      <a:r>
                        <a:rPr lang="en-US" sz="1400" b="1" dirty="0" err="1"/>
                        <a:t>eBloomDQG</a:t>
                      </a:r>
                      <a:r>
                        <a:rPr lang="en-US" sz="1400" b="1" dirty="0"/>
                        <a:t>: Integrating Cognitive Level Alignment with Encoder-Decoder Architecture for Deep Question Generation</a:t>
                      </a:r>
                      <a:endParaRPr lang="en-US" sz="1400" dirty="0"/>
                    </a:p>
                  </a:txBody>
                  <a:tcPr marL="2140" marR="2140" marT="1070" marB="1070" anchor="ctr"/>
                </a:tc>
                <a:tc>
                  <a:txBody>
                    <a:bodyPr/>
                    <a:lstStyle/>
                    <a:p>
                      <a:pPr algn="l"/>
                      <a:r>
                        <a:rPr lang="fi-FI" sz="1400"/>
                        <a:t>N. Aisyah, D. Purwitasari, R. N. E. Anggraini, S. D. Ravana</a:t>
                      </a:r>
                    </a:p>
                  </a:txBody>
                  <a:tcPr marL="2140" marR="2140" marT="1070" marB="1070" anchor="ctr"/>
                </a:tc>
                <a:tc>
                  <a:txBody>
                    <a:bodyPr/>
                    <a:lstStyle/>
                    <a:p>
                      <a:pPr algn="l"/>
                      <a:r>
                        <a:rPr lang="en-IN" sz="1400"/>
                        <a:t>2026</a:t>
                      </a:r>
                    </a:p>
                  </a:txBody>
                  <a:tcPr marL="2140" marR="2140" marT="1070" marB="1070" anchor="ctr"/>
                </a:tc>
                <a:tc>
                  <a:txBody>
                    <a:bodyPr/>
                    <a:lstStyle/>
                    <a:p>
                      <a:pPr algn="l"/>
                      <a:r>
                        <a:rPr lang="en-US" sz="1400"/>
                        <a:t>Encoder-Decoder, eBloom, NLP, Knowledge Base</a:t>
                      </a:r>
                    </a:p>
                  </a:txBody>
                  <a:tcPr marL="2140" marR="2140" marT="1070" marB="1070" anchor="ctr"/>
                </a:tc>
                <a:tc>
                  <a:txBody>
                    <a:bodyPr/>
                    <a:lstStyle/>
                    <a:p>
                      <a:pPr algn="l"/>
                      <a:r>
                        <a:rPr lang="en-IN" sz="1400"/>
                        <a:t>Generates questions aligned with Bloom’s cognitive levels; improves question quality.</a:t>
                      </a:r>
                    </a:p>
                  </a:txBody>
                  <a:tcPr marL="2140" marR="2140" marT="1070" marB="1070" anchor="ctr"/>
                </a:tc>
                <a:tc>
                  <a:txBody>
                    <a:bodyPr/>
                    <a:lstStyle/>
                    <a:p>
                      <a:pPr algn="l"/>
                      <a:r>
                        <a:rPr lang="en-US" sz="1400"/>
                        <a:t>Requires suitable training data and may need further domain adaptation.</a:t>
                      </a:r>
                    </a:p>
                  </a:txBody>
                  <a:tcPr marL="2140" marR="2140" marT="1070" marB="1070" anchor="ctr"/>
                </a:tc>
                <a:extLst>
                  <a:ext uri="{0D108BD9-81ED-4DB2-BD59-A6C34878D82A}">
                    <a16:rowId xmlns:a16="http://schemas.microsoft.com/office/drawing/2014/main" val="2405955872"/>
                  </a:ext>
                </a:extLst>
              </a:tr>
              <a:tr h="935262">
                <a:tc>
                  <a:txBody>
                    <a:bodyPr/>
                    <a:lstStyle/>
                    <a:p>
                      <a:pPr algn="l"/>
                      <a:r>
                        <a:rPr lang="en-IN" sz="1400" b="1"/>
                        <a:t>2</a:t>
                      </a:r>
                      <a:endParaRPr lang="en-IN" sz="1400"/>
                    </a:p>
                  </a:txBody>
                  <a:tcPr marL="2140" marR="2140" marT="1070" marB="1070" anchor="ctr"/>
                </a:tc>
                <a:tc>
                  <a:txBody>
                    <a:bodyPr/>
                    <a:lstStyle/>
                    <a:p>
                      <a:pPr algn="l"/>
                      <a:r>
                        <a:rPr lang="en-US" sz="1400" b="1" dirty="0" err="1"/>
                        <a:t>CQELedu</a:t>
                      </a:r>
                      <a:r>
                        <a:rPr lang="en-US" sz="1400" b="1" dirty="0"/>
                        <a:t>: Design and Implementation of a </a:t>
                      </a:r>
                      <a:r>
                        <a:rPr lang="en-US" sz="1400" b="1" dirty="0" err="1"/>
                        <a:t>LangChain</a:t>
                      </a:r>
                      <a:r>
                        <a:rPr lang="en-US" sz="1400" b="1" dirty="0"/>
                        <a:t> and GPT-4o Mini-Based Web Application for Custom Question Generation and Error-Based Learning in Education</a:t>
                      </a:r>
                      <a:endParaRPr lang="en-US" sz="1400" dirty="0"/>
                    </a:p>
                  </a:txBody>
                  <a:tcPr marL="2140" marR="2140" marT="1070" marB="1070" anchor="ctr"/>
                </a:tc>
                <a:tc>
                  <a:txBody>
                    <a:bodyPr/>
                    <a:lstStyle/>
                    <a:p>
                      <a:pPr algn="l"/>
                      <a:r>
                        <a:rPr lang="en-IN" sz="1400"/>
                        <a:t>D. Kim, S. Won Park, J. Lee</a:t>
                      </a:r>
                    </a:p>
                  </a:txBody>
                  <a:tcPr marL="2140" marR="2140" marT="1070" marB="1070" anchor="ctr"/>
                </a:tc>
                <a:tc>
                  <a:txBody>
                    <a:bodyPr/>
                    <a:lstStyle/>
                    <a:p>
                      <a:pPr algn="l"/>
                      <a:r>
                        <a:rPr lang="en-IN" sz="1400"/>
                        <a:t>2025</a:t>
                      </a:r>
                    </a:p>
                  </a:txBody>
                  <a:tcPr marL="2140" marR="2140" marT="1070" marB="1070" anchor="ctr"/>
                </a:tc>
                <a:tc>
                  <a:txBody>
                    <a:bodyPr/>
                    <a:lstStyle/>
                    <a:p>
                      <a:pPr algn="l"/>
                      <a:r>
                        <a:rPr lang="en-IN" sz="1400"/>
                        <a:t>LangChain, GPT-4o Mini, LLM-based question generation</a:t>
                      </a:r>
                    </a:p>
                  </a:txBody>
                  <a:tcPr marL="2140" marR="2140" marT="1070" marB="1070" anchor="ctr"/>
                </a:tc>
                <a:tc>
                  <a:txBody>
                    <a:bodyPr/>
                    <a:lstStyle/>
                    <a:p>
                      <a:pPr algn="l"/>
                      <a:r>
                        <a:rPr lang="en-US" sz="1400"/>
                        <a:t>Supports customized questions and generates follow-up questions based on errors.</a:t>
                      </a:r>
                    </a:p>
                  </a:txBody>
                  <a:tcPr marL="2140" marR="2140" marT="1070" marB="1070" anchor="ctr"/>
                </a:tc>
                <a:tc>
                  <a:txBody>
                    <a:bodyPr/>
                    <a:lstStyle/>
                    <a:p>
                      <a:pPr algn="l"/>
                      <a:r>
                        <a:rPr lang="en-US" sz="1400"/>
                        <a:t>Scalability and multilingual support require further improvement.</a:t>
                      </a:r>
                    </a:p>
                  </a:txBody>
                  <a:tcPr marL="2140" marR="2140" marT="1070" marB="1070" anchor="ctr"/>
                </a:tc>
                <a:extLst>
                  <a:ext uri="{0D108BD9-81ED-4DB2-BD59-A6C34878D82A}">
                    <a16:rowId xmlns:a16="http://schemas.microsoft.com/office/drawing/2014/main" val="2224679605"/>
                  </a:ext>
                </a:extLst>
              </a:tr>
              <a:tr h="935262">
                <a:tc>
                  <a:txBody>
                    <a:bodyPr/>
                    <a:lstStyle/>
                    <a:p>
                      <a:pPr algn="l"/>
                      <a:r>
                        <a:rPr lang="en-IN" sz="1400" b="1"/>
                        <a:t>3</a:t>
                      </a:r>
                      <a:endParaRPr lang="en-IN" sz="1400"/>
                    </a:p>
                  </a:txBody>
                  <a:tcPr marL="2140" marR="2140" marT="1070" marB="1070" anchor="ctr"/>
                </a:tc>
                <a:tc>
                  <a:txBody>
                    <a:bodyPr/>
                    <a:lstStyle/>
                    <a:p>
                      <a:pPr algn="l"/>
                      <a:r>
                        <a:rPr lang="en-US" sz="1400" b="1"/>
                        <a:t>MCQs Generation With Large Language Models: A Survey of Methodologies, Evolution, and Open Research Issues</a:t>
                      </a:r>
                      <a:endParaRPr lang="en-US" sz="1400"/>
                    </a:p>
                  </a:txBody>
                  <a:tcPr marL="2140" marR="2140" marT="1070" marB="1070" anchor="ctr"/>
                </a:tc>
                <a:tc>
                  <a:txBody>
                    <a:bodyPr/>
                    <a:lstStyle/>
                    <a:p>
                      <a:pPr algn="l"/>
                      <a:r>
                        <a:rPr lang="en-IN" sz="1400"/>
                        <a:t>M. R. Anwar, S. Khalid, S. Alshahrani, H. S. M. Bilal, M. Aldawsari</a:t>
                      </a:r>
                    </a:p>
                  </a:txBody>
                  <a:tcPr marL="2140" marR="2140" marT="1070" marB="1070" anchor="ctr"/>
                </a:tc>
                <a:tc>
                  <a:txBody>
                    <a:bodyPr/>
                    <a:lstStyle/>
                    <a:p>
                      <a:pPr algn="l"/>
                      <a:r>
                        <a:rPr lang="en-IN" sz="1400"/>
                        <a:t>2026</a:t>
                      </a:r>
                    </a:p>
                  </a:txBody>
                  <a:tcPr marL="2140" marR="2140" marT="1070" marB="1070" anchor="ctr"/>
                </a:tc>
                <a:tc>
                  <a:txBody>
                    <a:bodyPr/>
                    <a:lstStyle/>
                    <a:p>
                      <a:pPr algn="l"/>
                      <a:r>
                        <a:rPr lang="en-US" sz="1400" dirty="0"/>
                        <a:t>LLM-based MCQ generation, preprocessing, key selection, distractor generation</a:t>
                      </a:r>
                    </a:p>
                  </a:txBody>
                  <a:tcPr marL="2140" marR="2140" marT="1070" marB="1070" anchor="ctr"/>
                </a:tc>
                <a:tc>
                  <a:txBody>
                    <a:bodyPr/>
                    <a:lstStyle/>
                    <a:p>
                      <a:pPr algn="l"/>
                      <a:r>
                        <a:rPr lang="en-US" sz="1400"/>
                        <a:t>Provides a broad overview of automatic MCQ generation and evaluation methods.</a:t>
                      </a:r>
                    </a:p>
                  </a:txBody>
                  <a:tcPr marL="2140" marR="2140" marT="1070" marB="1070" anchor="ctr"/>
                </a:tc>
                <a:tc>
                  <a:txBody>
                    <a:bodyPr/>
                    <a:lstStyle/>
                    <a:p>
                      <a:pPr algn="l"/>
                      <a:r>
                        <a:rPr lang="en-US" sz="1400"/>
                        <a:t>Mainly focuses on MCQs and does not provide a complete customized question-paper system.</a:t>
                      </a:r>
                    </a:p>
                  </a:txBody>
                  <a:tcPr marL="2140" marR="2140" marT="1070" marB="1070" anchor="ctr"/>
                </a:tc>
                <a:extLst>
                  <a:ext uri="{0D108BD9-81ED-4DB2-BD59-A6C34878D82A}">
                    <a16:rowId xmlns:a16="http://schemas.microsoft.com/office/drawing/2014/main" val="4242683723"/>
                  </a:ext>
                </a:extLst>
              </a:tr>
              <a:tr h="748584">
                <a:tc>
                  <a:txBody>
                    <a:bodyPr/>
                    <a:lstStyle/>
                    <a:p>
                      <a:pPr algn="l"/>
                      <a:r>
                        <a:rPr lang="en-IN" sz="1400" b="1"/>
                        <a:t>4</a:t>
                      </a:r>
                      <a:endParaRPr lang="en-IN" sz="1400"/>
                    </a:p>
                  </a:txBody>
                  <a:tcPr marL="2140" marR="2140" marT="1070" marB="1070" anchor="ctr"/>
                </a:tc>
                <a:tc>
                  <a:txBody>
                    <a:bodyPr/>
                    <a:lstStyle/>
                    <a:p>
                      <a:pPr algn="l"/>
                      <a:r>
                        <a:rPr lang="en-US" sz="1400" b="1"/>
                        <a:t>QARR-QGF: A Dual-Module Data Augmentation Framework for Enhanced Few-Shot Question Answering</a:t>
                      </a:r>
                      <a:endParaRPr lang="en-US" sz="1400"/>
                    </a:p>
                  </a:txBody>
                  <a:tcPr marL="2140" marR="2140" marT="1070" marB="1070" anchor="ctr"/>
                </a:tc>
                <a:tc>
                  <a:txBody>
                    <a:bodyPr/>
                    <a:lstStyle/>
                    <a:p>
                      <a:pPr algn="l"/>
                      <a:r>
                        <a:rPr lang="en-IN" sz="1400"/>
                        <a:t>S. W. Tan, C. P. Lee, K. M. Lim, A. Alqahtani</a:t>
                      </a:r>
                    </a:p>
                  </a:txBody>
                  <a:tcPr marL="2140" marR="2140" marT="1070" marB="1070" anchor="ctr"/>
                </a:tc>
                <a:tc>
                  <a:txBody>
                    <a:bodyPr/>
                    <a:lstStyle/>
                    <a:p>
                      <a:pPr algn="l"/>
                      <a:r>
                        <a:rPr lang="en-IN" sz="1400"/>
                        <a:t>2025</a:t>
                      </a:r>
                    </a:p>
                  </a:txBody>
                  <a:tcPr marL="2140" marR="2140" marT="1070" marB="1070" anchor="ctr"/>
                </a:tc>
                <a:tc>
                  <a:txBody>
                    <a:bodyPr/>
                    <a:lstStyle/>
                    <a:p>
                      <a:pPr algn="l"/>
                      <a:r>
                        <a:rPr lang="en-IN" sz="1400"/>
                        <a:t>Data augmentation, question generation, semantic filtering</a:t>
                      </a:r>
                    </a:p>
                  </a:txBody>
                  <a:tcPr marL="2140" marR="2140" marT="1070" marB="1070" anchor="ctr"/>
                </a:tc>
                <a:tc>
                  <a:txBody>
                    <a:bodyPr/>
                    <a:lstStyle/>
                    <a:p>
                      <a:pPr algn="l"/>
                      <a:r>
                        <a:rPr lang="en-US" sz="1400"/>
                        <a:t>Improves question diversity and performance with limited training data.</a:t>
                      </a:r>
                    </a:p>
                  </a:txBody>
                  <a:tcPr marL="2140" marR="2140" marT="1070" marB="1070" anchor="ctr"/>
                </a:tc>
                <a:tc>
                  <a:txBody>
                    <a:bodyPr/>
                    <a:lstStyle/>
                    <a:p>
                      <a:pPr algn="l"/>
                      <a:r>
                        <a:rPr lang="en-US" sz="1400"/>
                        <a:t>Primarily designed for question answering rather than complete examination-paper generation.</a:t>
                      </a:r>
                    </a:p>
                  </a:txBody>
                  <a:tcPr marL="2140" marR="2140" marT="1070" marB="1070" anchor="ctr"/>
                </a:tc>
                <a:extLst>
                  <a:ext uri="{0D108BD9-81ED-4DB2-BD59-A6C34878D82A}">
                    <a16:rowId xmlns:a16="http://schemas.microsoft.com/office/drawing/2014/main" val="3480943194"/>
                  </a:ext>
                </a:extLst>
              </a:tr>
              <a:tr h="935262">
                <a:tc>
                  <a:txBody>
                    <a:bodyPr/>
                    <a:lstStyle/>
                    <a:p>
                      <a:pPr algn="l"/>
                      <a:r>
                        <a:rPr lang="en-IN" sz="1400" b="1"/>
                        <a:t>5</a:t>
                      </a:r>
                      <a:endParaRPr lang="en-IN" sz="1400"/>
                    </a:p>
                  </a:txBody>
                  <a:tcPr marL="2140" marR="2140" marT="1070" marB="1070" anchor="ctr"/>
                </a:tc>
                <a:tc>
                  <a:txBody>
                    <a:bodyPr/>
                    <a:lstStyle/>
                    <a:p>
                      <a:pPr algn="l"/>
                      <a:r>
                        <a:rPr lang="en-US" sz="1400" b="1" dirty="0"/>
                        <a:t>Medical Knowledge-Based Differential Image Visual Question Answering</a:t>
                      </a:r>
                      <a:endParaRPr lang="en-US" sz="1400" dirty="0"/>
                    </a:p>
                  </a:txBody>
                  <a:tcPr marL="2140" marR="2140" marT="1070" marB="1070" anchor="ctr"/>
                </a:tc>
                <a:tc>
                  <a:txBody>
                    <a:bodyPr/>
                    <a:lstStyle/>
                    <a:p>
                      <a:pPr algn="l"/>
                      <a:r>
                        <a:rPr lang="de-DE" sz="1400" dirty="0"/>
                        <a:t>F. Lu, S. Liu, W. Lu, P. Chen, B. Ding</a:t>
                      </a:r>
                    </a:p>
                  </a:txBody>
                  <a:tcPr marL="2140" marR="2140" marT="1070" marB="1070" anchor="ctr"/>
                </a:tc>
                <a:tc>
                  <a:txBody>
                    <a:bodyPr/>
                    <a:lstStyle/>
                    <a:p>
                      <a:pPr algn="l"/>
                      <a:r>
                        <a:rPr lang="en-IN" sz="1400"/>
                        <a:t>2025</a:t>
                      </a:r>
                    </a:p>
                  </a:txBody>
                  <a:tcPr marL="2140" marR="2140" marT="1070" marB="1070" anchor="ctr"/>
                </a:tc>
                <a:tc>
                  <a:txBody>
                    <a:bodyPr/>
                    <a:lstStyle/>
                    <a:p>
                      <a:pPr algn="l"/>
                      <a:r>
                        <a:rPr lang="en-US" sz="1400"/>
                        <a:t>Knowledge embeddings, feature processing, attention, answer generation</a:t>
                      </a:r>
                    </a:p>
                  </a:txBody>
                  <a:tcPr marL="2140" marR="2140" marT="1070" marB="1070" anchor="ctr"/>
                </a:tc>
                <a:tc>
                  <a:txBody>
                    <a:bodyPr/>
                    <a:lstStyle/>
                    <a:p>
                      <a:pPr algn="l"/>
                      <a:r>
                        <a:rPr lang="en-US" sz="1400"/>
                        <a:t>Combines external knowledge with question-answer generation and improves contextual understanding.</a:t>
                      </a:r>
                    </a:p>
                  </a:txBody>
                  <a:tcPr marL="2140" marR="2140" marT="1070" marB="1070" anchor="ctr"/>
                </a:tc>
                <a:tc>
                  <a:txBody>
                    <a:bodyPr/>
                    <a:lstStyle/>
                    <a:p>
                      <a:pPr algn="l"/>
                      <a:r>
                        <a:rPr lang="en-US" sz="1400" dirty="0"/>
                        <a:t>Designed for medical visual QA and is not directly applicable to syllabus-based question papers.</a:t>
                      </a:r>
                    </a:p>
                  </a:txBody>
                  <a:tcPr marL="2140" marR="2140" marT="1070" marB="1070" anchor="ctr"/>
                </a:tc>
                <a:extLst>
                  <a:ext uri="{0D108BD9-81ED-4DB2-BD59-A6C34878D82A}">
                    <a16:rowId xmlns:a16="http://schemas.microsoft.com/office/drawing/2014/main" val="3249459481"/>
                  </a:ext>
                </a:extLst>
              </a:tr>
            </a:tbl>
          </a:graphicData>
        </a:graphic>
      </p:graphicFrame>
    </p:spTree>
    <p:extLst>
      <p:ext uri="{BB962C8B-B14F-4D97-AF65-F5344CB8AC3E}">
        <p14:creationId xmlns:p14="http://schemas.microsoft.com/office/powerpoint/2010/main" val="2968486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42B97-2FC9-DCA0-B7FF-E10ADFD7F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2E7E6-519F-B5CF-35A0-FD3EDD6AED06}"/>
              </a:ext>
            </a:extLst>
          </p:cNvPr>
          <p:cNvSpPr>
            <a:spLocks noGrp="1"/>
          </p:cNvSpPr>
          <p:nvPr>
            <p:ph type="title"/>
          </p:nvPr>
        </p:nvSpPr>
        <p:spPr/>
        <p:txBody>
          <a:bodyPr/>
          <a:lstStyle/>
          <a:p>
            <a:r>
              <a:rPr lang="en-IN" dirty="0"/>
              <a:t>LITERATURE SURVEY</a:t>
            </a:r>
          </a:p>
        </p:txBody>
      </p:sp>
      <p:sp>
        <p:nvSpPr>
          <p:cNvPr id="4" name="Footer Placeholder 3">
            <a:extLst>
              <a:ext uri="{FF2B5EF4-FFF2-40B4-BE49-F238E27FC236}">
                <a16:creationId xmlns:a16="http://schemas.microsoft.com/office/drawing/2014/main" id="{2EDD565D-5DB0-4C67-BC64-0E0ACB17F77E}"/>
              </a:ext>
            </a:extLst>
          </p:cNvPr>
          <p:cNvSpPr>
            <a:spLocks noGrp="1"/>
          </p:cNvSpPr>
          <p:nvPr>
            <p:ph type="ftr" sz="quarter" idx="5"/>
          </p:nvPr>
        </p:nvSpPr>
        <p:spPr/>
        <p:txBody>
          <a:bodyPr/>
          <a:lstStyle/>
          <a:p>
            <a:r>
              <a:rPr lang="en-IN"/>
              <a:t>zeroth review-Dissertation-I</a:t>
            </a:r>
          </a:p>
        </p:txBody>
      </p:sp>
      <p:sp>
        <p:nvSpPr>
          <p:cNvPr id="5" name="Date Placeholder 4">
            <a:extLst>
              <a:ext uri="{FF2B5EF4-FFF2-40B4-BE49-F238E27FC236}">
                <a16:creationId xmlns:a16="http://schemas.microsoft.com/office/drawing/2014/main" id="{180B586B-0E52-B687-B623-4CA9DF4CDC8B}"/>
              </a:ext>
            </a:extLst>
          </p:cNvPr>
          <p:cNvSpPr>
            <a:spLocks noGrp="1"/>
          </p:cNvSpPr>
          <p:nvPr>
            <p:ph type="dt" sz="half" idx="6"/>
          </p:nvPr>
        </p:nvSpPr>
        <p:spPr/>
        <p:txBody>
          <a:bodyPr/>
          <a:lstStyle/>
          <a:p>
            <a:fld id="{765B16AA-8AD8-2745-88E2-8EF311F85238}" type="datetime1">
              <a:rPr lang="en-IN" smtClean="0"/>
              <a:t>13-08-2026</a:t>
            </a:fld>
            <a:endParaRPr lang="en-US"/>
          </a:p>
        </p:txBody>
      </p:sp>
      <p:graphicFrame>
        <p:nvGraphicFramePr>
          <p:cNvPr id="3" name="Table 2">
            <a:extLst>
              <a:ext uri="{FF2B5EF4-FFF2-40B4-BE49-F238E27FC236}">
                <a16:creationId xmlns:a16="http://schemas.microsoft.com/office/drawing/2014/main" id="{1B7080E0-5248-66B5-D792-AA969E459552}"/>
              </a:ext>
            </a:extLst>
          </p:cNvPr>
          <p:cNvGraphicFramePr>
            <a:graphicFrameLocks noGrp="1"/>
          </p:cNvGraphicFramePr>
          <p:nvPr>
            <p:extLst>
              <p:ext uri="{D42A27DB-BD31-4B8C-83A1-F6EECF244321}">
                <p14:modId xmlns:p14="http://schemas.microsoft.com/office/powerpoint/2010/main" val="2411949499"/>
              </p:ext>
            </p:extLst>
          </p:nvPr>
        </p:nvGraphicFramePr>
        <p:xfrm>
          <a:off x="304800" y="547499"/>
          <a:ext cx="11430006" cy="4923216"/>
        </p:xfrm>
        <a:graphic>
          <a:graphicData uri="http://schemas.openxmlformats.org/drawingml/2006/table">
            <a:tbl>
              <a:tblPr>
                <a:tableStyleId>{5940675A-B579-460E-94D1-54222C63F5DA}</a:tableStyleId>
              </a:tblPr>
              <a:tblGrid>
                <a:gridCol w="533400">
                  <a:extLst>
                    <a:ext uri="{9D8B030D-6E8A-4147-A177-3AD203B41FA5}">
                      <a16:colId xmlns:a16="http://schemas.microsoft.com/office/drawing/2014/main" val="3920483504"/>
                    </a:ext>
                  </a:extLst>
                </a:gridCol>
                <a:gridCol w="3048000">
                  <a:extLst>
                    <a:ext uri="{9D8B030D-6E8A-4147-A177-3AD203B41FA5}">
                      <a16:colId xmlns:a16="http://schemas.microsoft.com/office/drawing/2014/main" val="1378159837"/>
                    </a:ext>
                  </a:extLst>
                </a:gridCol>
                <a:gridCol w="1317174">
                  <a:extLst>
                    <a:ext uri="{9D8B030D-6E8A-4147-A177-3AD203B41FA5}">
                      <a16:colId xmlns:a16="http://schemas.microsoft.com/office/drawing/2014/main" val="2343672130"/>
                    </a:ext>
                  </a:extLst>
                </a:gridCol>
                <a:gridCol w="664026">
                  <a:extLst>
                    <a:ext uri="{9D8B030D-6E8A-4147-A177-3AD203B41FA5}">
                      <a16:colId xmlns:a16="http://schemas.microsoft.com/office/drawing/2014/main" val="1003072447"/>
                    </a:ext>
                  </a:extLst>
                </a:gridCol>
                <a:gridCol w="1371600">
                  <a:extLst>
                    <a:ext uri="{9D8B030D-6E8A-4147-A177-3AD203B41FA5}">
                      <a16:colId xmlns:a16="http://schemas.microsoft.com/office/drawing/2014/main" val="3859754693"/>
                    </a:ext>
                  </a:extLst>
                </a:gridCol>
                <a:gridCol w="2438400">
                  <a:extLst>
                    <a:ext uri="{9D8B030D-6E8A-4147-A177-3AD203B41FA5}">
                      <a16:colId xmlns:a16="http://schemas.microsoft.com/office/drawing/2014/main" val="553080387"/>
                    </a:ext>
                  </a:extLst>
                </a:gridCol>
                <a:gridCol w="2057406">
                  <a:extLst>
                    <a:ext uri="{9D8B030D-6E8A-4147-A177-3AD203B41FA5}">
                      <a16:colId xmlns:a16="http://schemas.microsoft.com/office/drawing/2014/main" val="2578254445"/>
                    </a:ext>
                  </a:extLst>
                </a:gridCol>
              </a:tblGrid>
              <a:tr h="176218">
                <a:tc>
                  <a:txBody>
                    <a:bodyPr/>
                    <a:lstStyle/>
                    <a:p>
                      <a:pPr algn="ctr"/>
                      <a:r>
                        <a:rPr lang="en-IN" sz="1400" b="1"/>
                        <a:t>S.No</a:t>
                      </a:r>
                    </a:p>
                  </a:txBody>
                  <a:tcPr marL="2656" marR="2656" marT="1328" marB="1328" anchor="ctr"/>
                </a:tc>
                <a:tc>
                  <a:txBody>
                    <a:bodyPr/>
                    <a:lstStyle/>
                    <a:p>
                      <a:pPr algn="ctr"/>
                      <a:r>
                        <a:rPr lang="en-IN" sz="1400" b="1"/>
                        <a:t>Title</a:t>
                      </a:r>
                    </a:p>
                  </a:txBody>
                  <a:tcPr marL="2656" marR="2656" marT="1328" marB="1328" anchor="ctr"/>
                </a:tc>
                <a:tc>
                  <a:txBody>
                    <a:bodyPr/>
                    <a:lstStyle/>
                    <a:p>
                      <a:pPr algn="ctr"/>
                      <a:r>
                        <a:rPr lang="en-IN" sz="1400" b="1"/>
                        <a:t>Author</a:t>
                      </a:r>
                    </a:p>
                  </a:txBody>
                  <a:tcPr marL="2656" marR="2656" marT="1328" marB="1328" anchor="ctr"/>
                </a:tc>
                <a:tc>
                  <a:txBody>
                    <a:bodyPr/>
                    <a:lstStyle/>
                    <a:p>
                      <a:pPr algn="ctr"/>
                      <a:r>
                        <a:rPr lang="en-IN" sz="1400" b="1"/>
                        <a:t>Year</a:t>
                      </a:r>
                    </a:p>
                  </a:txBody>
                  <a:tcPr marL="2656" marR="2656" marT="1328" marB="1328" anchor="ctr"/>
                </a:tc>
                <a:tc>
                  <a:txBody>
                    <a:bodyPr/>
                    <a:lstStyle/>
                    <a:p>
                      <a:pPr algn="ctr"/>
                      <a:r>
                        <a:rPr lang="en-IN" sz="1400" b="1"/>
                        <a:t>Method</a:t>
                      </a:r>
                    </a:p>
                  </a:txBody>
                  <a:tcPr marL="2656" marR="2656" marT="1328" marB="1328" anchor="ctr"/>
                </a:tc>
                <a:tc>
                  <a:txBody>
                    <a:bodyPr/>
                    <a:lstStyle/>
                    <a:p>
                      <a:pPr algn="ctr"/>
                      <a:r>
                        <a:rPr lang="en-IN" sz="1400" b="1"/>
                        <a:t>Pros</a:t>
                      </a:r>
                    </a:p>
                  </a:txBody>
                  <a:tcPr marL="2656" marR="2656" marT="1328" marB="1328" anchor="ctr"/>
                </a:tc>
                <a:tc>
                  <a:txBody>
                    <a:bodyPr/>
                    <a:lstStyle/>
                    <a:p>
                      <a:pPr algn="ctr"/>
                      <a:r>
                        <a:rPr lang="en-IN" sz="1400" b="1" dirty="0"/>
                        <a:t>Cons</a:t>
                      </a:r>
                    </a:p>
                  </a:txBody>
                  <a:tcPr marL="2656" marR="2656" marT="1328" marB="1328" anchor="ctr"/>
                </a:tc>
                <a:extLst>
                  <a:ext uri="{0D108BD9-81ED-4DB2-BD59-A6C34878D82A}">
                    <a16:rowId xmlns:a16="http://schemas.microsoft.com/office/drawing/2014/main" val="514669730"/>
                  </a:ext>
                </a:extLst>
              </a:tr>
              <a:tr h="713903">
                <a:tc>
                  <a:txBody>
                    <a:bodyPr/>
                    <a:lstStyle/>
                    <a:p>
                      <a:pPr algn="l"/>
                      <a:r>
                        <a:rPr lang="en-IN" sz="1400" b="1"/>
                        <a:t>6</a:t>
                      </a:r>
                      <a:endParaRPr lang="en-IN" sz="1400"/>
                    </a:p>
                  </a:txBody>
                  <a:tcPr marL="2656" marR="2656" marT="1328" marB="1328" anchor="ctr"/>
                </a:tc>
                <a:tc>
                  <a:txBody>
                    <a:bodyPr/>
                    <a:lstStyle/>
                    <a:p>
                      <a:pPr algn="l"/>
                      <a:r>
                        <a:rPr lang="en-US" sz="1400" b="1"/>
                        <a:t>UQA-RAG: Enhancing Urdu Question-Answer Retrieval With Semantic Similarity and LLMs</a:t>
                      </a:r>
                      <a:endParaRPr lang="en-US" sz="1400"/>
                    </a:p>
                  </a:txBody>
                  <a:tcPr marL="2656" marR="2656" marT="1328" marB="1328" anchor="ctr"/>
                </a:tc>
                <a:tc>
                  <a:txBody>
                    <a:bodyPr/>
                    <a:lstStyle/>
                    <a:p>
                      <a:pPr algn="l"/>
                      <a:r>
                        <a:rPr lang="en-IN" sz="1400"/>
                        <a:t>T. F. Khan, M. Arslan, F. Alturise, A. H. Almutairi, M. T. Raza</a:t>
                      </a:r>
                    </a:p>
                  </a:txBody>
                  <a:tcPr marL="2656" marR="2656" marT="1328" marB="1328" anchor="ctr"/>
                </a:tc>
                <a:tc>
                  <a:txBody>
                    <a:bodyPr/>
                    <a:lstStyle/>
                    <a:p>
                      <a:pPr algn="l"/>
                      <a:r>
                        <a:rPr lang="en-IN" sz="1400"/>
                        <a:t>2026</a:t>
                      </a:r>
                    </a:p>
                  </a:txBody>
                  <a:tcPr marL="2656" marR="2656" marT="1328" marB="1328" anchor="ctr"/>
                </a:tc>
                <a:tc>
                  <a:txBody>
                    <a:bodyPr/>
                    <a:lstStyle/>
                    <a:p>
                      <a:pPr algn="l"/>
                      <a:r>
                        <a:rPr lang="en-US" sz="1400"/>
                        <a:t>RAG, Hybrid Retrieval, Semantic Similarity, LLMs</a:t>
                      </a:r>
                    </a:p>
                  </a:txBody>
                  <a:tcPr marL="2656" marR="2656" marT="1328" marB="1328" anchor="ctr"/>
                </a:tc>
                <a:tc>
                  <a:txBody>
                    <a:bodyPr/>
                    <a:lstStyle/>
                    <a:p>
                      <a:pPr algn="l"/>
                      <a:r>
                        <a:rPr lang="en-US" sz="1400"/>
                        <a:t>Improves contextual retrieval by combining semantic and lexical search; provides highly relevant answers.</a:t>
                      </a:r>
                    </a:p>
                  </a:txBody>
                  <a:tcPr marL="2656" marR="2656" marT="1328" marB="1328" anchor="ctr"/>
                </a:tc>
                <a:tc>
                  <a:txBody>
                    <a:bodyPr/>
                    <a:lstStyle/>
                    <a:p>
                      <a:pPr algn="l"/>
                      <a:r>
                        <a:rPr lang="en-US" sz="1400"/>
                        <a:t>Designed mainly for Urdu QA and requires suitable retrieval resources.</a:t>
                      </a:r>
                    </a:p>
                  </a:txBody>
                  <a:tcPr marL="2656" marR="2656" marT="1328" marB="1328" anchor="ctr"/>
                </a:tc>
                <a:extLst>
                  <a:ext uri="{0D108BD9-81ED-4DB2-BD59-A6C34878D82A}">
                    <a16:rowId xmlns:a16="http://schemas.microsoft.com/office/drawing/2014/main" val="426771806"/>
                  </a:ext>
                </a:extLst>
              </a:tr>
              <a:tr h="698370">
                <a:tc>
                  <a:txBody>
                    <a:bodyPr/>
                    <a:lstStyle/>
                    <a:p>
                      <a:pPr algn="l"/>
                      <a:r>
                        <a:rPr lang="en-IN" sz="1400" b="1"/>
                        <a:t>7</a:t>
                      </a:r>
                      <a:endParaRPr lang="en-IN" sz="1400"/>
                    </a:p>
                  </a:txBody>
                  <a:tcPr marL="2656" marR="2656" marT="1328" marB="1328" anchor="ctr"/>
                </a:tc>
                <a:tc>
                  <a:txBody>
                    <a:bodyPr/>
                    <a:lstStyle/>
                    <a:p>
                      <a:pPr algn="l"/>
                      <a:r>
                        <a:rPr lang="en-IN" sz="1400" b="1"/>
                        <a:t>MGPRAG: Enhancing Medical Large Language Models via Precision Retrieval-Augmented Generation</a:t>
                      </a:r>
                      <a:endParaRPr lang="en-IN" sz="1400"/>
                    </a:p>
                  </a:txBody>
                  <a:tcPr marL="2656" marR="2656" marT="1328" marB="1328" anchor="ctr"/>
                </a:tc>
                <a:tc>
                  <a:txBody>
                    <a:bodyPr/>
                    <a:lstStyle/>
                    <a:p>
                      <a:pPr algn="l"/>
                      <a:r>
                        <a:rPr lang="it-IT" sz="1400"/>
                        <a:t>Y. Shen, D. Xu, X. Li, L. Fu, H. Liu</a:t>
                      </a:r>
                    </a:p>
                  </a:txBody>
                  <a:tcPr marL="2656" marR="2656" marT="1328" marB="1328" anchor="ctr"/>
                </a:tc>
                <a:tc>
                  <a:txBody>
                    <a:bodyPr/>
                    <a:lstStyle/>
                    <a:p>
                      <a:pPr algn="l"/>
                      <a:r>
                        <a:rPr lang="en-IN" sz="1400"/>
                        <a:t>2025</a:t>
                      </a:r>
                    </a:p>
                  </a:txBody>
                  <a:tcPr marL="2656" marR="2656" marT="1328" marB="1328" anchor="ctr"/>
                </a:tc>
                <a:tc>
                  <a:txBody>
                    <a:bodyPr/>
                    <a:lstStyle/>
                    <a:p>
                      <a:pPr algn="l"/>
                      <a:r>
                        <a:rPr lang="en-US" sz="1400"/>
                        <a:t>Knowledge Graph, RAG, Dynamic-Frozen Encoder</a:t>
                      </a:r>
                    </a:p>
                  </a:txBody>
                  <a:tcPr marL="2656" marR="2656" marT="1328" marB="1328" anchor="ctr"/>
                </a:tc>
                <a:tc>
                  <a:txBody>
                    <a:bodyPr/>
                    <a:lstStyle/>
                    <a:p>
                      <a:pPr algn="l"/>
                      <a:r>
                        <a:rPr lang="en-US" sz="1400"/>
                        <a:t>Provides precise knowledge retrieval and improves generation quality.</a:t>
                      </a:r>
                    </a:p>
                  </a:txBody>
                  <a:tcPr marL="2656" marR="2656" marT="1328" marB="1328" anchor="ctr"/>
                </a:tc>
                <a:tc>
                  <a:txBody>
                    <a:bodyPr/>
                    <a:lstStyle/>
                    <a:p>
                      <a:pPr algn="l"/>
                      <a:r>
                        <a:rPr lang="en-US" sz="1400"/>
                        <a:t>Domain-specific medical design limits direct application to general education.</a:t>
                      </a:r>
                    </a:p>
                  </a:txBody>
                  <a:tcPr marL="2656" marR="2656" marT="1328" marB="1328" anchor="ctr"/>
                </a:tc>
                <a:extLst>
                  <a:ext uri="{0D108BD9-81ED-4DB2-BD59-A6C34878D82A}">
                    <a16:rowId xmlns:a16="http://schemas.microsoft.com/office/drawing/2014/main" val="3879889630"/>
                  </a:ext>
                </a:extLst>
              </a:tr>
              <a:tr h="698370">
                <a:tc>
                  <a:txBody>
                    <a:bodyPr/>
                    <a:lstStyle/>
                    <a:p>
                      <a:pPr algn="l"/>
                      <a:r>
                        <a:rPr lang="en-IN" sz="1400" b="1"/>
                        <a:t>8</a:t>
                      </a:r>
                      <a:endParaRPr lang="en-IN" sz="1400"/>
                    </a:p>
                  </a:txBody>
                  <a:tcPr marL="2656" marR="2656" marT="1328" marB="1328" anchor="ctr"/>
                </a:tc>
                <a:tc>
                  <a:txBody>
                    <a:bodyPr/>
                    <a:lstStyle/>
                    <a:p>
                      <a:pPr algn="l"/>
                      <a:r>
                        <a:rPr lang="en-US" sz="1400" b="1"/>
                        <a:t>KAIR: Knowledge-Aware Iterative Retrieval for Multiagent Systems</a:t>
                      </a:r>
                      <a:endParaRPr lang="en-US" sz="1400"/>
                    </a:p>
                  </a:txBody>
                  <a:tcPr marL="2656" marR="2656" marT="1328" marB="1328" anchor="ctr"/>
                </a:tc>
                <a:tc>
                  <a:txBody>
                    <a:bodyPr/>
                    <a:lstStyle/>
                    <a:p>
                      <a:pPr algn="l"/>
                      <a:r>
                        <a:rPr lang="it-IT" sz="1400"/>
                        <a:t>S. Song, S. Chawla, V. K. Madisetti</a:t>
                      </a:r>
                    </a:p>
                  </a:txBody>
                  <a:tcPr marL="2656" marR="2656" marT="1328" marB="1328" anchor="ctr"/>
                </a:tc>
                <a:tc>
                  <a:txBody>
                    <a:bodyPr/>
                    <a:lstStyle/>
                    <a:p>
                      <a:pPr algn="l"/>
                      <a:r>
                        <a:rPr lang="en-IN" sz="1400"/>
                        <a:t>2026</a:t>
                      </a:r>
                    </a:p>
                  </a:txBody>
                  <a:tcPr marL="2656" marR="2656" marT="1328" marB="1328" anchor="ctr"/>
                </a:tc>
                <a:tc>
                  <a:txBody>
                    <a:bodyPr/>
                    <a:lstStyle/>
                    <a:p>
                      <a:pPr algn="l"/>
                      <a:r>
                        <a:rPr lang="en-IN" sz="1400"/>
                        <a:t>Iterative Retrieval, RAG, LLM Agents</a:t>
                      </a:r>
                    </a:p>
                  </a:txBody>
                  <a:tcPr marL="2656" marR="2656" marT="1328" marB="1328" anchor="ctr"/>
                </a:tc>
                <a:tc>
                  <a:txBody>
                    <a:bodyPr/>
                    <a:lstStyle/>
                    <a:p>
                      <a:pPr algn="l"/>
                      <a:r>
                        <a:rPr lang="en-US" sz="1400"/>
                        <a:t>Refines queries iteratively and improves evidence-based reasoning and retrieval accuracy.</a:t>
                      </a:r>
                    </a:p>
                  </a:txBody>
                  <a:tcPr marL="2656" marR="2656" marT="1328" marB="1328" anchor="ctr"/>
                </a:tc>
                <a:tc>
                  <a:txBody>
                    <a:bodyPr/>
                    <a:lstStyle/>
                    <a:p>
                      <a:pPr algn="l"/>
                      <a:r>
                        <a:rPr lang="en-US" sz="1400" dirty="0"/>
                        <a:t>More complex architecture may increase processing time and implementation cost.</a:t>
                      </a:r>
                    </a:p>
                  </a:txBody>
                  <a:tcPr marL="2656" marR="2656" marT="1328" marB="1328" anchor="ctr"/>
                </a:tc>
                <a:extLst>
                  <a:ext uri="{0D108BD9-81ED-4DB2-BD59-A6C34878D82A}">
                    <a16:rowId xmlns:a16="http://schemas.microsoft.com/office/drawing/2014/main" val="1182735283"/>
                  </a:ext>
                </a:extLst>
              </a:tr>
              <a:tr h="872421">
                <a:tc>
                  <a:txBody>
                    <a:bodyPr/>
                    <a:lstStyle/>
                    <a:p>
                      <a:pPr algn="l"/>
                      <a:r>
                        <a:rPr lang="en-IN" sz="1400" b="1"/>
                        <a:t>9</a:t>
                      </a:r>
                      <a:endParaRPr lang="en-IN" sz="1400"/>
                    </a:p>
                  </a:txBody>
                  <a:tcPr marL="2656" marR="2656" marT="1328" marB="1328" anchor="ctr"/>
                </a:tc>
                <a:tc>
                  <a:txBody>
                    <a:bodyPr/>
                    <a:lstStyle/>
                    <a:p>
                      <a:pPr algn="l"/>
                      <a:r>
                        <a:rPr lang="en-US" sz="1400" b="1"/>
                        <a:t>Evolutionary-Algorithm-Based Automatic Prompt Generation for Vision-Language Model Evaluation</a:t>
                      </a:r>
                      <a:endParaRPr lang="en-US" sz="1400"/>
                    </a:p>
                  </a:txBody>
                  <a:tcPr marL="2656" marR="2656" marT="1328" marB="1328" anchor="ctr"/>
                </a:tc>
                <a:tc>
                  <a:txBody>
                    <a:bodyPr/>
                    <a:lstStyle/>
                    <a:p>
                      <a:pPr algn="l"/>
                      <a:r>
                        <a:rPr lang="en-IN" sz="1400"/>
                        <a:t>W. Li, M. Hui, W. Xiaolu, L. Shujuan</a:t>
                      </a:r>
                    </a:p>
                  </a:txBody>
                  <a:tcPr marL="2656" marR="2656" marT="1328" marB="1328" anchor="ctr"/>
                </a:tc>
                <a:tc>
                  <a:txBody>
                    <a:bodyPr/>
                    <a:lstStyle/>
                    <a:p>
                      <a:pPr algn="l"/>
                      <a:r>
                        <a:rPr lang="en-IN" sz="1400"/>
                        <a:t>2026</a:t>
                      </a:r>
                    </a:p>
                  </a:txBody>
                  <a:tcPr marL="2656" marR="2656" marT="1328" marB="1328" anchor="ctr"/>
                </a:tc>
                <a:tc>
                  <a:txBody>
                    <a:bodyPr/>
                    <a:lstStyle/>
                    <a:p>
                      <a:pPr algn="l"/>
                      <a:r>
                        <a:rPr lang="en-US" sz="1400"/>
                        <a:t>Evolutionary Algorithm, Prompt Generation, Semantic Evaluation</a:t>
                      </a:r>
                    </a:p>
                  </a:txBody>
                  <a:tcPr marL="2656" marR="2656" marT="1328" marB="1328" anchor="ctr"/>
                </a:tc>
                <a:tc>
                  <a:txBody>
                    <a:bodyPr/>
                    <a:lstStyle/>
                    <a:p>
                      <a:pPr algn="l"/>
                      <a:r>
                        <a:rPr lang="en-US" sz="1400"/>
                        <a:t>Produces optimized prompts and improves semantic relevance and evaluation quality.</a:t>
                      </a:r>
                    </a:p>
                  </a:txBody>
                  <a:tcPr marL="2656" marR="2656" marT="1328" marB="1328" anchor="ctr"/>
                </a:tc>
                <a:tc>
                  <a:txBody>
                    <a:bodyPr/>
                    <a:lstStyle/>
                    <a:p>
                      <a:pPr algn="l"/>
                      <a:r>
                        <a:rPr lang="en-US" sz="1400"/>
                        <a:t>Developed mainly for vision-language evaluation rather than educational question generation.</a:t>
                      </a:r>
                    </a:p>
                  </a:txBody>
                  <a:tcPr marL="2656" marR="2656" marT="1328" marB="1328" anchor="ctr"/>
                </a:tc>
                <a:extLst>
                  <a:ext uri="{0D108BD9-81ED-4DB2-BD59-A6C34878D82A}">
                    <a16:rowId xmlns:a16="http://schemas.microsoft.com/office/drawing/2014/main" val="192940796"/>
                  </a:ext>
                </a:extLst>
              </a:tr>
              <a:tr h="872421">
                <a:tc>
                  <a:txBody>
                    <a:bodyPr/>
                    <a:lstStyle/>
                    <a:p>
                      <a:pPr algn="l"/>
                      <a:r>
                        <a:rPr lang="en-IN" sz="1400" b="1"/>
                        <a:t>10</a:t>
                      </a:r>
                      <a:endParaRPr lang="en-IN" sz="1400"/>
                    </a:p>
                  </a:txBody>
                  <a:tcPr marL="2656" marR="2656" marT="1328" marB="1328" anchor="ctr"/>
                </a:tc>
                <a:tc>
                  <a:txBody>
                    <a:bodyPr/>
                    <a:lstStyle/>
                    <a:p>
                      <a:pPr algn="l"/>
                      <a:r>
                        <a:rPr lang="en-US" sz="1400" b="1"/>
                        <a:t>ContextualCoder: Adaptive In-Context Prompting for Programmatic Visual Question Answering</a:t>
                      </a:r>
                      <a:endParaRPr lang="en-US" sz="1400"/>
                    </a:p>
                  </a:txBody>
                  <a:tcPr marL="2656" marR="2656" marT="1328" marB="1328" anchor="ctr"/>
                </a:tc>
                <a:tc>
                  <a:txBody>
                    <a:bodyPr/>
                    <a:lstStyle/>
                    <a:p>
                      <a:pPr algn="l"/>
                      <a:r>
                        <a:rPr lang="en-IN" sz="1400"/>
                        <a:t>R. Shen, N. Inoue, D. Guan, R. Cai, A. C. Kot, K. Shinoda</a:t>
                      </a:r>
                    </a:p>
                  </a:txBody>
                  <a:tcPr marL="2656" marR="2656" marT="1328" marB="1328" anchor="ctr"/>
                </a:tc>
                <a:tc>
                  <a:txBody>
                    <a:bodyPr/>
                    <a:lstStyle/>
                    <a:p>
                      <a:pPr algn="l"/>
                      <a:r>
                        <a:rPr lang="en-IN" sz="1400"/>
                        <a:t>2025</a:t>
                      </a:r>
                    </a:p>
                  </a:txBody>
                  <a:tcPr marL="2656" marR="2656" marT="1328" marB="1328" anchor="ctr"/>
                </a:tc>
                <a:tc>
                  <a:txBody>
                    <a:bodyPr/>
                    <a:lstStyle/>
                    <a:p>
                      <a:pPr algn="l"/>
                      <a:r>
                        <a:rPr lang="en-US" sz="1400"/>
                        <a:t>LLM Prompting, In-Context Learning, Contextual Selection</a:t>
                      </a:r>
                    </a:p>
                  </a:txBody>
                  <a:tcPr marL="2656" marR="2656" marT="1328" marB="1328" anchor="ctr"/>
                </a:tc>
                <a:tc>
                  <a:txBody>
                    <a:bodyPr/>
                    <a:lstStyle/>
                    <a:p>
                      <a:pPr algn="l"/>
                      <a:r>
                        <a:rPr lang="en-US" sz="1400"/>
                        <a:t>Improves context-aware prompting and supports better question-answer reasoning.</a:t>
                      </a:r>
                    </a:p>
                  </a:txBody>
                  <a:tcPr marL="2656" marR="2656" marT="1328" marB="1328" anchor="ctr"/>
                </a:tc>
                <a:tc>
                  <a:txBody>
                    <a:bodyPr/>
                    <a:lstStyle/>
                    <a:p>
                      <a:pPr algn="l"/>
                      <a:r>
                        <a:rPr lang="en-US" sz="1400" dirty="0"/>
                        <a:t>Focuses on visual question answering and requires additional models for visual processing.</a:t>
                      </a:r>
                    </a:p>
                  </a:txBody>
                  <a:tcPr marL="2656" marR="2656" marT="1328" marB="1328" anchor="ctr"/>
                </a:tc>
                <a:extLst>
                  <a:ext uri="{0D108BD9-81ED-4DB2-BD59-A6C34878D82A}">
                    <a16:rowId xmlns:a16="http://schemas.microsoft.com/office/drawing/2014/main" val="3853597128"/>
                  </a:ext>
                </a:extLst>
              </a:tr>
            </a:tbl>
          </a:graphicData>
        </a:graphic>
      </p:graphicFrame>
    </p:spTree>
    <p:extLst>
      <p:ext uri="{BB962C8B-B14F-4D97-AF65-F5344CB8AC3E}">
        <p14:creationId xmlns:p14="http://schemas.microsoft.com/office/powerpoint/2010/main" val="963588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63069-1D69-F85C-68BD-857CEAE7C5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0A3A7-3917-45E0-2CA4-F672834468DF}"/>
              </a:ext>
            </a:extLst>
          </p:cNvPr>
          <p:cNvSpPr>
            <a:spLocks noGrp="1"/>
          </p:cNvSpPr>
          <p:nvPr>
            <p:ph type="title"/>
          </p:nvPr>
        </p:nvSpPr>
        <p:spPr/>
        <p:txBody>
          <a:bodyPr/>
          <a:lstStyle/>
          <a:p>
            <a:r>
              <a:rPr lang="en-IN" dirty="0"/>
              <a:t>LITERATURE SURVEY</a:t>
            </a:r>
          </a:p>
        </p:txBody>
      </p:sp>
      <p:sp>
        <p:nvSpPr>
          <p:cNvPr id="4" name="Footer Placeholder 3">
            <a:extLst>
              <a:ext uri="{FF2B5EF4-FFF2-40B4-BE49-F238E27FC236}">
                <a16:creationId xmlns:a16="http://schemas.microsoft.com/office/drawing/2014/main" id="{0C914F19-C5D7-7783-7AE7-906C3F8E29C8}"/>
              </a:ext>
            </a:extLst>
          </p:cNvPr>
          <p:cNvSpPr>
            <a:spLocks noGrp="1"/>
          </p:cNvSpPr>
          <p:nvPr>
            <p:ph type="ftr" sz="quarter" idx="5"/>
          </p:nvPr>
        </p:nvSpPr>
        <p:spPr/>
        <p:txBody>
          <a:bodyPr/>
          <a:lstStyle/>
          <a:p>
            <a:r>
              <a:rPr lang="en-IN"/>
              <a:t>zeroth review-Dissertation-I</a:t>
            </a:r>
          </a:p>
        </p:txBody>
      </p:sp>
      <p:sp>
        <p:nvSpPr>
          <p:cNvPr id="5" name="Date Placeholder 4">
            <a:extLst>
              <a:ext uri="{FF2B5EF4-FFF2-40B4-BE49-F238E27FC236}">
                <a16:creationId xmlns:a16="http://schemas.microsoft.com/office/drawing/2014/main" id="{287479A6-BF94-D129-CCEE-33647A3F11E7}"/>
              </a:ext>
            </a:extLst>
          </p:cNvPr>
          <p:cNvSpPr>
            <a:spLocks noGrp="1"/>
          </p:cNvSpPr>
          <p:nvPr>
            <p:ph type="dt" sz="half" idx="6"/>
          </p:nvPr>
        </p:nvSpPr>
        <p:spPr/>
        <p:txBody>
          <a:bodyPr/>
          <a:lstStyle/>
          <a:p>
            <a:fld id="{765B16AA-8AD8-2745-88E2-8EF311F85238}" type="datetime1">
              <a:rPr lang="en-IN" smtClean="0"/>
              <a:t>13-08-2026</a:t>
            </a:fld>
            <a:endParaRPr lang="en-US"/>
          </a:p>
        </p:txBody>
      </p:sp>
      <p:graphicFrame>
        <p:nvGraphicFramePr>
          <p:cNvPr id="3" name="Table 2">
            <a:extLst>
              <a:ext uri="{FF2B5EF4-FFF2-40B4-BE49-F238E27FC236}">
                <a16:creationId xmlns:a16="http://schemas.microsoft.com/office/drawing/2014/main" id="{EA02DA70-E569-9DAA-0BEB-36B30838CAC9}"/>
              </a:ext>
            </a:extLst>
          </p:cNvPr>
          <p:cNvGraphicFramePr>
            <a:graphicFrameLocks noGrp="1"/>
          </p:cNvGraphicFramePr>
          <p:nvPr>
            <p:extLst>
              <p:ext uri="{D42A27DB-BD31-4B8C-83A1-F6EECF244321}">
                <p14:modId xmlns:p14="http://schemas.microsoft.com/office/powerpoint/2010/main" val="2171589823"/>
              </p:ext>
            </p:extLst>
          </p:nvPr>
        </p:nvGraphicFramePr>
        <p:xfrm>
          <a:off x="152400" y="388156"/>
          <a:ext cx="11658598" cy="4891413"/>
        </p:xfrm>
        <a:graphic>
          <a:graphicData uri="http://schemas.openxmlformats.org/drawingml/2006/table">
            <a:tbl>
              <a:tblPr>
                <a:tableStyleId>{5940675A-B579-460E-94D1-54222C63F5DA}</a:tableStyleId>
              </a:tblPr>
              <a:tblGrid>
                <a:gridCol w="533400">
                  <a:extLst>
                    <a:ext uri="{9D8B030D-6E8A-4147-A177-3AD203B41FA5}">
                      <a16:colId xmlns:a16="http://schemas.microsoft.com/office/drawing/2014/main" val="702897328"/>
                    </a:ext>
                  </a:extLst>
                </a:gridCol>
                <a:gridCol w="2514600">
                  <a:extLst>
                    <a:ext uri="{9D8B030D-6E8A-4147-A177-3AD203B41FA5}">
                      <a16:colId xmlns:a16="http://schemas.microsoft.com/office/drawing/2014/main" val="1701712735"/>
                    </a:ext>
                  </a:extLst>
                </a:gridCol>
                <a:gridCol w="1447800">
                  <a:extLst>
                    <a:ext uri="{9D8B030D-6E8A-4147-A177-3AD203B41FA5}">
                      <a16:colId xmlns:a16="http://schemas.microsoft.com/office/drawing/2014/main" val="3429950741"/>
                    </a:ext>
                  </a:extLst>
                </a:gridCol>
                <a:gridCol w="609600">
                  <a:extLst>
                    <a:ext uri="{9D8B030D-6E8A-4147-A177-3AD203B41FA5}">
                      <a16:colId xmlns:a16="http://schemas.microsoft.com/office/drawing/2014/main" val="1479871894"/>
                    </a:ext>
                  </a:extLst>
                </a:gridCol>
                <a:gridCol w="2286000">
                  <a:extLst>
                    <a:ext uri="{9D8B030D-6E8A-4147-A177-3AD203B41FA5}">
                      <a16:colId xmlns:a16="http://schemas.microsoft.com/office/drawing/2014/main" val="3557045036"/>
                    </a:ext>
                  </a:extLst>
                </a:gridCol>
                <a:gridCol w="1981200">
                  <a:extLst>
                    <a:ext uri="{9D8B030D-6E8A-4147-A177-3AD203B41FA5}">
                      <a16:colId xmlns:a16="http://schemas.microsoft.com/office/drawing/2014/main" val="4185568372"/>
                    </a:ext>
                  </a:extLst>
                </a:gridCol>
                <a:gridCol w="2285998">
                  <a:extLst>
                    <a:ext uri="{9D8B030D-6E8A-4147-A177-3AD203B41FA5}">
                      <a16:colId xmlns:a16="http://schemas.microsoft.com/office/drawing/2014/main" val="2650475870"/>
                    </a:ext>
                  </a:extLst>
                </a:gridCol>
              </a:tblGrid>
              <a:tr h="199056">
                <a:tc>
                  <a:txBody>
                    <a:bodyPr/>
                    <a:lstStyle/>
                    <a:p>
                      <a:pPr algn="ctr"/>
                      <a:r>
                        <a:rPr lang="en-IN" sz="1400" b="1"/>
                        <a:t>S.No</a:t>
                      </a:r>
                    </a:p>
                  </a:txBody>
                  <a:tcPr marL="2431" marR="2431" marT="1215" marB="1215" anchor="ctr"/>
                </a:tc>
                <a:tc>
                  <a:txBody>
                    <a:bodyPr/>
                    <a:lstStyle/>
                    <a:p>
                      <a:pPr algn="ctr"/>
                      <a:r>
                        <a:rPr lang="en-IN" sz="1400" b="1"/>
                        <a:t>Title</a:t>
                      </a:r>
                    </a:p>
                  </a:txBody>
                  <a:tcPr marL="2431" marR="2431" marT="1215" marB="1215" anchor="ctr"/>
                </a:tc>
                <a:tc>
                  <a:txBody>
                    <a:bodyPr/>
                    <a:lstStyle/>
                    <a:p>
                      <a:pPr algn="ctr"/>
                      <a:r>
                        <a:rPr lang="en-IN" sz="1400" b="1"/>
                        <a:t>Author</a:t>
                      </a:r>
                    </a:p>
                  </a:txBody>
                  <a:tcPr marL="2431" marR="2431" marT="1215" marB="1215" anchor="ctr"/>
                </a:tc>
                <a:tc>
                  <a:txBody>
                    <a:bodyPr/>
                    <a:lstStyle/>
                    <a:p>
                      <a:pPr algn="ctr"/>
                      <a:r>
                        <a:rPr lang="en-IN" sz="1400" b="1"/>
                        <a:t>Year</a:t>
                      </a:r>
                    </a:p>
                  </a:txBody>
                  <a:tcPr marL="2431" marR="2431" marT="1215" marB="1215" anchor="ctr"/>
                </a:tc>
                <a:tc>
                  <a:txBody>
                    <a:bodyPr/>
                    <a:lstStyle/>
                    <a:p>
                      <a:pPr algn="ctr"/>
                      <a:r>
                        <a:rPr lang="en-IN" sz="1400" b="1"/>
                        <a:t>Method</a:t>
                      </a:r>
                    </a:p>
                  </a:txBody>
                  <a:tcPr marL="2431" marR="2431" marT="1215" marB="1215" anchor="ctr"/>
                </a:tc>
                <a:tc>
                  <a:txBody>
                    <a:bodyPr/>
                    <a:lstStyle/>
                    <a:p>
                      <a:pPr algn="ctr"/>
                      <a:r>
                        <a:rPr lang="en-IN" sz="1400" b="1"/>
                        <a:t>Pros</a:t>
                      </a:r>
                    </a:p>
                  </a:txBody>
                  <a:tcPr marL="2431" marR="2431" marT="1215" marB="1215" anchor="ctr"/>
                </a:tc>
                <a:tc>
                  <a:txBody>
                    <a:bodyPr/>
                    <a:lstStyle/>
                    <a:p>
                      <a:pPr algn="ctr"/>
                      <a:r>
                        <a:rPr lang="en-IN" sz="1400" b="1" dirty="0"/>
                        <a:t>Cons</a:t>
                      </a:r>
                    </a:p>
                  </a:txBody>
                  <a:tcPr marL="2431" marR="2431" marT="1215" marB="1215" anchor="ctr"/>
                </a:tc>
                <a:extLst>
                  <a:ext uri="{0D108BD9-81ED-4DB2-BD59-A6C34878D82A}">
                    <a16:rowId xmlns:a16="http://schemas.microsoft.com/office/drawing/2014/main" val="1366743488"/>
                  </a:ext>
                </a:extLst>
              </a:tr>
              <a:tr h="789498">
                <a:tc>
                  <a:txBody>
                    <a:bodyPr/>
                    <a:lstStyle/>
                    <a:p>
                      <a:pPr algn="l"/>
                      <a:r>
                        <a:rPr lang="en-IN" sz="1400" b="1"/>
                        <a:t>11</a:t>
                      </a:r>
                      <a:endParaRPr lang="en-IN" sz="1400"/>
                    </a:p>
                  </a:txBody>
                  <a:tcPr marL="2431" marR="2431" marT="1215" marB="1215" anchor="ctr"/>
                </a:tc>
                <a:tc>
                  <a:txBody>
                    <a:bodyPr/>
                    <a:lstStyle/>
                    <a:p>
                      <a:pPr algn="l"/>
                      <a:r>
                        <a:rPr lang="en-US" sz="1400" b="1"/>
                        <a:t>Synthetic Data Generation Using Large Language Models: Advances in Text and Code</a:t>
                      </a:r>
                      <a:endParaRPr lang="en-US" sz="1400"/>
                    </a:p>
                  </a:txBody>
                  <a:tcPr marL="2431" marR="2431" marT="1215" marB="1215" anchor="ctr"/>
                </a:tc>
                <a:tc>
                  <a:txBody>
                    <a:bodyPr/>
                    <a:lstStyle/>
                    <a:p>
                      <a:pPr algn="l"/>
                      <a:r>
                        <a:rPr lang="en-IN" sz="1400"/>
                        <a:t>M. Nadǎş, L. Dioşan, A. Tomescu</a:t>
                      </a:r>
                    </a:p>
                  </a:txBody>
                  <a:tcPr marL="2431" marR="2431" marT="1215" marB="1215" anchor="ctr"/>
                </a:tc>
                <a:tc>
                  <a:txBody>
                    <a:bodyPr/>
                    <a:lstStyle/>
                    <a:p>
                      <a:pPr algn="l"/>
                      <a:r>
                        <a:rPr lang="en-IN" sz="1400"/>
                        <a:t>2025</a:t>
                      </a:r>
                    </a:p>
                  </a:txBody>
                  <a:tcPr marL="2431" marR="2431" marT="1215" marB="1215" anchor="ctr"/>
                </a:tc>
                <a:tc>
                  <a:txBody>
                    <a:bodyPr/>
                    <a:lstStyle/>
                    <a:p>
                      <a:pPr algn="l"/>
                      <a:r>
                        <a:rPr lang="en-US" sz="1400" dirty="0"/>
                        <a:t>LLM-based synthetic data generation, prompting, RAG, self-refinement</a:t>
                      </a:r>
                    </a:p>
                  </a:txBody>
                  <a:tcPr marL="2431" marR="2431" marT="1215" marB="1215" anchor="ctr"/>
                </a:tc>
                <a:tc>
                  <a:txBody>
                    <a:bodyPr/>
                    <a:lstStyle/>
                    <a:p>
                      <a:pPr algn="l"/>
                      <a:r>
                        <a:rPr lang="en-US" sz="1400"/>
                        <a:t>Provides controllable and diverse synthetic text; useful when real training data is limited.</a:t>
                      </a:r>
                    </a:p>
                  </a:txBody>
                  <a:tcPr marL="2431" marR="2431" marT="1215" marB="1215" anchor="ctr"/>
                </a:tc>
                <a:tc>
                  <a:txBody>
                    <a:bodyPr/>
                    <a:lstStyle/>
                    <a:p>
                      <a:pPr algn="l"/>
                      <a:r>
                        <a:rPr lang="en-US" sz="1400"/>
                        <a:t>Generated content may contain factual errors, bias, and unrealistic data patterns.</a:t>
                      </a:r>
                    </a:p>
                  </a:txBody>
                  <a:tcPr marL="2431" marR="2431" marT="1215" marB="1215" anchor="ctr"/>
                </a:tc>
                <a:extLst>
                  <a:ext uri="{0D108BD9-81ED-4DB2-BD59-A6C34878D82A}">
                    <a16:rowId xmlns:a16="http://schemas.microsoft.com/office/drawing/2014/main" val="1820872426"/>
                  </a:ext>
                </a:extLst>
              </a:tr>
              <a:tr h="789498">
                <a:tc>
                  <a:txBody>
                    <a:bodyPr/>
                    <a:lstStyle/>
                    <a:p>
                      <a:pPr algn="l"/>
                      <a:r>
                        <a:rPr lang="en-IN" sz="1400" b="1"/>
                        <a:t>12</a:t>
                      </a:r>
                      <a:endParaRPr lang="en-IN" sz="1400"/>
                    </a:p>
                  </a:txBody>
                  <a:tcPr marL="2431" marR="2431" marT="1215" marB="1215" anchor="ctr"/>
                </a:tc>
                <a:tc>
                  <a:txBody>
                    <a:bodyPr/>
                    <a:lstStyle/>
                    <a:p>
                      <a:pPr algn="l"/>
                      <a:r>
                        <a:rPr lang="en-US" sz="1400" b="1"/>
                        <a:t>AI-Driven Personalized Learning and Remedial Recommendation Through Knowledge Concept-Centric Evaluation</a:t>
                      </a:r>
                      <a:endParaRPr lang="en-US" sz="1400"/>
                    </a:p>
                  </a:txBody>
                  <a:tcPr marL="2431" marR="2431" marT="1215" marB="1215" anchor="ctr"/>
                </a:tc>
                <a:tc>
                  <a:txBody>
                    <a:bodyPr/>
                    <a:lstStyle/>
                    <a:p>
                      <a:pPr algn="l"/>
                      <a:r>
                        <a:rPr lang="en-IN" sz="1400"/>
                        <a:t>N. Pradeesh, M. G. Thushara, K. Arun Krishna, V. Pranav, S. Krishnamoorthy</a:t>
                      </a:r>
                    </a:p>
                  </a:txBody>
                  <a:tcPr marL="2431" marR="2431" marT="1215" marB="1215" anchor="ctr"/>
                </a:tc>
                <a:tc>
                  <a:txBody>
                    <a:bodyPr/>
                    <a:lstStyle/>
                    <a:p>
                      <a:pPr algn="l"/>
                      <a:r>
                        <a:rPr lang="en-IN" sz="1400"/>
                        <a:t>2025</a:t>
                      </a:r>
                    </a:p>
                  </a:txBody>
                  <a:tcPr marL="2431" marR="2431" marT="1215" marB="1215" anchor="ctr"/>
                </a:tc>
                <a:tc>
                  <a:txBody>
                    <a:bodyPr/>
                    <a:lstStyle/>
                    <a:p>
                      <a:pPr algn="l"/>
                      <a:r>
                        <a:rPr lang="en-US" sz="1400"/>
                        <a:t>RAG, Knowledge Tracing, adaptive question generation</a:t>
                      </a:r>
                    </a:p>
                  </a:txBody>
                  <a:tcPr marL="2431" marR="2431" marT="1215" marB="1215" anchor="ctr"/>
                </a:tc>
                <a:tc>
                  <a:txBody>
                    <a:bodyPr/>
                    <a:lstStyle/>
                    <a:p>
                      <a:pPr algn="l"/>
                      <a:r>
                        <a:rPr lang="en-US" sz="1400"/>
                        <a:t>Generates contextually aligned questions and supports Course Outcomes and learning objectives.</a:t>
                      </a:r>
                    </a:p>
                  </a:txBody>
                  <a:tcPr marL="2431" marR="2431" marT="1215" marB="1215" anchor="ctr"/>
                </a:tc>
                <a:tc>
                  <a:txBody>
                    <a:bodyPr/>
                    <a:lstStyle/>
                    <a:p>
                      <a:pPr algn="l"/>
                      <a:r>
                        <a:rPr lang="en-US" sz="1400"/>
                        <a:t>Mainly focuses on personalized learning rather than complete automated question-paper generation.</a:t>
                      </a:r>
                    </a:p>
                  </a:txBody>
                  <a:tcPr marL="2431" marR="2431" marT="1215" marB="1215" anchor="ctr"/>
                </a:tc>
                <a:extLst>
                  <a:ext uri="{0D108BD9-81ED-4DB2-BD59-A6C34878D82A}">
                    <a16:rowId xmlns:a16="http://schemas.microsoft.com/office/drawing/2014/main" val="3708907523"/>
                  </a:ext>
                </a:extLst>
              </a:tr>
              <a:tr h="789498">
                <a:tc>
                  <a:txBody>
                    <a:bodyPr/>
                    <a:lstStyle/>
                    <a:p>
                      <a:pPr algn="l"/>
                      <a:r>
                        <a:rPr lang="en-IN" sz="1400" b="1"/>
                        <a:t>13</a:t>
                      </a:r>
                      <a:endParaRPr lang="en-IN" sz="1400"/>
                    </a:p>
                  </a:txBody>
                  <a:tcPr marL="2431" marR="2431" marT="1215" marB="1215" anchor="ctr"/>
                </a:tc>
                <a:tc>
                  <a:txBody>
                    <a:bodyPr/>
                    <a:lstStyle/>
                    <a:p>
                      <a:pPr algn="l"/>
                      <a:r>
                        <a:rPr lang="en-US" sz="1400" b="1"/>
                        <a:t>VQA-Guided Diffusion: Enhancing Text-to-Image Generation With Semantic Feedback From Visual Question Answering</a:t>
                      </a:r>
                      <a:endParaRPr lang="en-US" sz="1400"/>
                    </a:p>
                  </a:txBody>
                  <a:tcPr marL="2431" marR="2431" marT="1215" marB="1215" anchor="ctr"/>
                </a:tc>
                <a:tc>
                  <a:txBody>
                    <a:bodyPr/>
                    <a:lstStyle/>
                    <a:p>
                      <a:pPr algn="l"/>
                      <a:r>
                        <a:rPr lang="pl-PL" sz="1400"/>
                        <a:t>D. B. Bhowmik, I. Maity, A. K. Pati</a:t>
                      </a:r>
                    </a:p>
                  </a:txBody>
                  <a:tcPr marL="2431" marR="2431" marT="1215" marB="1215" anchor="ctr"/>
                </a:tc>
                <a:tc>
                  <a:txBody>
                    <a:bodyPr/>
                    <a:lstStyle/>
                    <a:p>
                      <a:pPr algn="l"/>
                      <a:r>
                        <a:rPr lang="en-IN" sz="1400"/>
                        <a:t>2026</a:t>
                      </a:r>
                    </a:p>
                  </a:txBody>
                  <a:tcPr marL="2431" marR="2431" marT="1215" marB="1215" anchor="ctr"/>
                </a:tc>
                <a:tc>
                  <a:txBody>
                    <a:bodyPr/>
                    <a:lstStyle/>
                    <a:p>
                      <a:pPr algn="l"/>
                      <a:r>
                        <a:rPr lang="en-US" sz="1400"/>
                        <a:t>NLP, VQA, semantic feedback, iterative generation</a:t>
                      </a:r>
                    </a:p>
                  </a:txBody>
                  <a:tcPr marL="2431" marR="2431" marT="1215" marB="1215" anchor="ctr"/>
                </a:tc>
                <a:tc>
                  <a:txBody>
                    <a:bodyPr/>
                    <a:lstStyle/>
                    <a:p>
                      <a:pPr algn="l"/>
                      <a:r>
                        <a:rPr lang="en-US" sz="1400"/>
                        <a:t>Uses semantic verification and feedback to improve generated content.</a:t>
                      </a:r>
                    </a:p>
                  </a:txBody>
                  <a:tcPr marL="2431" marR="2431" marT="1215" marB="1215" anchor="ctr"/>
                </a:tc>
                <a:tc>
                  <a:txBody>
                    <a:bodyPr/>
                    <a:lstStyle/>
                    <a:p>
                      <a:pPr algn="l"/>
                      <a:r>
                        <a:rPr lang="en-US" sz="1400"/>
                        <a:t>Focuses on text-to-image generation and is not directly applicable to educational question generation.</a:t>
                      </a:r>
                    </a:p>
                  </a:txBody>
                  <a:tcPr marL="2431" marR="2431" marT="1215" marB="1215" anchor="ctr"/>
                </a:tc>
                <a:extLst>
                  <a:ext uri="{0D108BD9-81ED-4DB2-BD59-A6C34878D82A}">
                    <a16:rowId xmlns:a16="http://schemas.microsoft.com/office/drawing/2014/main" val="3514754272"/>
                  </a:ext>
                </a:extLst>
              </a:tr>
              <a:tr h="986312">
                <a:tc>
                  <a:txBody>
                    <a:bodyPr/>
                    <a:lstStyle/>
                    <a:p>
                      <a:pPr algn="l"/>
                      <a:r>
                        <a:rPr lang="en-IN" sz="1400" b="1"/>
                        <a:t>14</a:t>
                      </a:r>
                      <a:endParaRPr lang="en-IN" sz="1400"/>
                    </a:p>
                  </a:txBody>
                  <a:tcPr marL="2431" marR="2431" marT="1215" marB="1215" anchor="ctr"/>
                </a:tc>
                <a:tc>
                  <a:txBody>
                    <a:bodyPr/>
                    <a:lstStyle/>
                    <a:p>
                      <a:pPr algn="l"/>
                      <a:r>
                        <a:rPr lang="en-US" sz="1400" b="1"/>
                        <a:t>PowerIntelBench: Benchmarking Evidence-Grounded and Explainable Reasoning in Power Knowledge Management</a:t>
                      </a:r>
                      <a:endParaRPr lang="en-US" sz="1400"/>
                    </a:p>
                  </a:txBody>
                  <a:tcPr marL="2431" marR="2431" marT="1215" marB="1215" anchor="ctr"/>
                </a:tc>
                <a:tc>
                  <a:txBody>
                    <a:bodyPr/>
                    <a:lstStyle/>
                    <a:p>
                      <a:pPr algn="l"/>
                      <a:r>
                        <a:rPr lang="en-IN" sz="1400"/>
                        <a:t>T. Yang, J. Han, C. Zhang, J. Huang</a:t>
                      </a:r>
                    </a:p>
                  </a:txBody>
                  <a:tcPr marL="2431" marR="2431" marT="1215" marB="1215" anchor="ctr"/>
                </a:tc>
                <a:tc>
                  <a:txBody>
                    <a:bodyPr/>
                    <a:lstStyle/>
                    <a:p>
                      <a:pPr algn="l"/>
                      <a:r>
                        <a:rPr lang="en-IN" sz="1400"/>
                        <a:t>2026</a:t>
                      </a:r>
                    </a:p>
                  </a:txBody>
                  <a:tcPr marL="2431" marR="2431" marT="1215" marB="1215" anchor="ctr"/>
                </a:tc>
                <a:tc>
                  <a:txBody>
                    <a:bodyPr/>
                    <a:lstStyle/>
                    <a:p>
                      <a:pPr algn="l"/>
                      <a:r>
                        <a:rPr lang="en-US" sz="1400" dirty="0"/>
                        <a:t>LLM evaluation, evidence retrieval, knowledge management, QA benchmarking</a:t>
                      </a:r>
                    </a:p>
                  </a:txBody>
                  <a:tcPr marL="2431" marR="2431" marT="1215" marB="1215" anchor="ctr"/>
                </a:tc>
                <a:tc>
                  <a:txBody>
                    <a:bodyPr/>
                    <a:lstStyle/>
                    <a:p>
                      <a:pPr algn="l"/>
                      <a:r>
                        <a:rPr lang="en-US" sz="1400"/>
                        <a:t>Supports evidence-grounded and traceable LLM responses; useful for evaluating generated content.</a:t>
                      </a:r>
                    </a:p>
                  </a:txBody>
                  <a:tcPr marL="2431" marR="2431" marT="1215" marB="1215" anchor="ctr"/>
                </a:tc>
                <a:tc>
                  <a:txBody>
                    <a:bodyPr/>
                    <a:lstStyle/>
                    <a:p>
                      <a:pPr algn="l"/>
                      <a:r>
                        <a:rPr lang="en-US" sz="1400"/>
                        <a:t>Designed for power-standard knowledge management rather than academic question-paper generation.</a:t>
                      </a:r>
                    </a:p>
                  </a:txBody>
                  <a:tcPr marL="2431" marR="2431" marT="1215" marB="1215" anchor="ctr"/>
                </a:tc>
                <a:extLst>
                  <a:ext uri="{0D108BD9-81ED-4DB2-BD59-A6C34878D82A}">
                    <a16:rowId xmlns:a16="http://schemas.microsoft.com/office/drawing/2014/main" val="3508286510"/>
                  </a:ext>
                </a:extLst>
              </a:tr>
              <a:tr h="1038783">
                <a:tc>
                  <a:txBody>
                    <a:bodyPr/>
                    <a:lstStyle/>
                    <a:p>
                      <a:pPr algn="l"/>
                      <a:r>
                        <a:rPr lang="en-IN" sz="1400" b="1"/>
                        <a:t>15</a:t>
                      </a:r>
                      <a:endParaRPr lang="en-IN" sz="1400"/>
                    </a:p>
                  </a:txBody>
                  <a:tcPr marL="2431" marR="2431" marT="1215" marB="1215" anchor="ctr"/>
                </a:tc>
                <a:tc>
                  <a:txBody>
                    <a:bodyPr/>
                    <a:lstStyle/>
                    <a:p>
                      <a:pPr algn="l"/>
                      <a:r>
                        <a:rPr lang="en-US" sz="1400" b="1"/>
                        <a:t>GRAVITY: Graph-Based Reasoning With Attention and Visual Information Using Transformers for Yielding Answers</a:t>
                      </a:r>
                      <a:endParaRPr lang="en-US" sz="1400"/>
                    </a:p>
                  </a:txBody>
                  <a:tcPr marL="2431" marR="2431" marT="1215" marB="1215" anchor="ctr"/>
                </a:tc>
                <a:tc>
                  <a:txBody>
                    <a:bodyPr/>
                    <a:lstStyle/>
                    <a:p>
                      <a:pPr algn="l"/>
                      <a:r>
                        <a:rPr lang="en-IN" sz="1400"/>
                        <a:t>H. N. Chaudhry, F. Kulsoom, Z. Ullah Khan</a:t>
                      </a:r>
                    </a:p>
                  </a:txBody>
                  <a:tcPr marL="2431" marR="2431" marT="1215" marB="1215" anchor="ctr"/>
                </a:tc>
                <a:tc>
                  <a:txBody>
                    <a:bodyPr/>
                    <a:lstStyle/>
                    <a:p>
                      <a:pPr algn="l"/>
                      <a:r>
                        <a:rPr lang="en-IN" sz="1400"/>
                        <a:t>2025</a:t>
                      </a:r>
                    </a:p>
                  </a:txBody>
                  <a:tcPr marL="2431" marR="2431" marT="1215" marB="1215" anchor="ctr"/>
                </a:tc>
                <a:tc>
                  <a:txBody>
                    <a:bodyPr/>
                    <a:lstStyle/>
                    <a:p>
                      <a:pPr algn="l"/>
                      <a:r>
                        <a:rPr lang="en-US" sz="1400"/>
                        <a:t>Graph Attention Networks, Transformers, semantic reasoning</a:t>
                      </a:r>
                    </a:p>
                  </a:txBody>
                  <a:tcPr marL="2431" marR="2431" marT="1215" marB="1215" anchor="ctr"/>
                </a:tc>
                <a:tc>
                  <a:txBody>
                    <a:bodyPr/>
                    <a:lstStyle/>
                    <a:p>
                      <a:pPr algn="l"/>
                      <a:r>
                        <a:rPr lang="en-US" sz="1400"/>
                        <a:t>Improves contextual reasoning by combining structured relationships with language information.</a:t>
                      </a:r>
                    </a:p>
                  </a:txBody>
                  <a:tcPr marL="2431" marR="2431" marT="1215" marB="1215" anchor="ctr"/>
                </a:tc>
                <a:tc>
                  <a:txBody>
                    <a:bodyPr/>
                    <a:lstStyle/>
                    <a:p>
                      <a:pPr algn="l"/>
                      <a:r>
                        <a:rPr lang="en-US" sz="1400" dirty="0"/>
                        <a:t>Primarily designed for visual question answering and requires complex model architecture.</a:t>
                      </a:r>
                    </a:p>
                  </a:txBody>
                  <a:tcPr marL="2431" marR="2431" marT="1215" marB="1215" anchor="ctr"/>
                </a:tc>
                <a:extLst>
                  <a:ext uri="{0D108BD9-81ED-4DB2-BD59-A6C34878D82A}">
                    <a16:rowId xmlns:a16="http://schemas.microsoft.com/office/drawing/2014/main" val="746747840"/>
                  </a:ext>
                </a:extLst>
              </a:tr>
            </a:tbl>
          </a:graphicData>
        </a:graphic>
      </p:graphicFrame>
    </p:spTree>
    <p:extLst>
      <p:ext uri="{BB962C8B-B14F-4D97-AF65-F5344CB8AC3E}">
        <p14:creationId xmlns:p14="http://schemas.microsoft.com/office/powerpoint/2010/main" val="3572577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BD2E7-C21A-8CD0-0E05-9CD8F7EE15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7D6FC-68C5-E3E5-7CC7-2845839B312E}"/>
              </a:ext>
            </a:extLst>
          </p:cNvPr>
          <p:cNvSpPr>
            <a:spLocks noGrp="1"/>
          </p:cNvSpPr>
          <p:nvPr>
            <p:ph type="title"/>
          </p:nvPr>
        </p:nvSpPr>
        <p:spPr/>
        <p:txBody>
          <a:bodyPr/>
          <a:lstStyle/>
          <a:p>
            <a:r>
              <a:rPr lang="en-IN" dirty="0"/>
              <a:t>LITERATURE SURVEY</a:t>
            </a:r>
          </a:p>
        </p:txBody>
      </p:sp>
      <p:sp>
        <p:nvSpPr>
          <p:cNvPr id="4" name="Footer Placeholder 3">
            <a:extLst>
              <a:ext uri="{FF2B5EF4-FFF2-40B4-BE49-F238E27FC236}">
                <a16:creationId xmlns:a16="http://schemas.microsoft.com/office/drawing/2014/main" id="{75686A02-7849-8B7A-D74A-77A8B1199432}"/>
              </a:ext>
            </a:extLst>
          </p:cNvPr>
          <p:cNvSpPr>
            <a:spLocks noGrp="1"/>
          </p:cNvSpPr>
          <p:nvPr>
            <p:ph type="ftr" sz="quarter" idx="5"/>
          </p:nvPr>
        </p:nvSpPr>
        <p:spPr/>
        <p:txBody>
          <a:bodyPr/>
          <a:lstStyle/>
          <a:p>
            <a:r>
              <a:rPr lang="en-IN"/>
              <a:t>zeroth review-Dissertation-I</a:t>
            </a:r>
          </a:p>
        </p:txBody>
      </p:sp>
      <p:sp>
        <p:nvSpPr>
          <p:cNvPr id="5" name="Date Placeholder 4">
            <a:extLst>
              <a:ext uri="{FF2B5EF4-FFF2-40B4-BE49-F238E27FC236}">
                <a16:creationId xmlns:a16="http://schemas.microsoft.com/office/drawing/2014/main" id="{89B985BB-9AA0-0281-B1A9-07C81DDAB58C}"/>
              </a:ext>
            </a:extLst>
          </p:cNvPr>
          <p:cNvSpPr>
            <a:spLocks noGrp="1"/>
          </p:cNvSpPr>
          <p:nvPr>
            <p:ph type="dt" sz="half" idx="6"/>
          </p:nvPr>
        </p:nvSpPr>
        <p:spPr/>
        <p:txBody>
          <a:bodyPr/>
          <a:lstStyle/>
          <a:p>
            <a:fld id="{765B16AA-8AD8-2745-88E2-8EF311F85238}" type="datetime1">
              <a:rPr lang="en-IN" smtClean="0"/>
              <a:t>13-08-2026</a:t>
            </a:fld>
            <a:endParaRPr lang="en-US"/>
          </a:p>
        </p:txBody>
      </p:sp>
      <p:graphicFrame>
        <p:nvGraphicFramePr>
          <p:cNvPr id="3" name="Table 2">
            <a:extLst>
              <a:ext uri="{FF2B5EF4-FFF2-40B4-BE49-F238E27FC236}">
                <a16:creationId xmlns:a16="http://schemas.microsoft.com/office/drawing/2014/main" id="{4589BFB7-767A-663D-7F73-6A4F83692B56}"/>
              </a:ext>
            </a:extLst>
          </p:cNvPr>
          <p:cNvGraphicFramePr>
            <a:graphicFrameLocks noGrp="1"/>
          </p:cNvGraphicFramePr>
          <p:nvPr>
            <p:extLst>
              <p:ext uri="{D42A27DB-BD31-4B8C-83A1-F6EECF244321}">
                <p14:modId xmlns:p14="http://schemas.microsoft.com/office/powerpoint/2010/main" val="2799984589"/>
              </p:ext>
            </p:extLst>
          </p:nvPr>
        </p:nvGraphicFramePr>
        <p:xfrm>
          <a:off x="304800" y="533400"/>
          <a:ext cx="11582400" cy="5246004"/>
        </p:xfrm>
        <a:graphic>
          <a:graphicData uri="http://schemas.openxmlformats.org/drawingml/2006/table">
            <a:tbl>
              <a:tblPr>
                <a:tableStyleId>{5940675A-B579-460E-94D1-54222C63F5DA}</a:tableStyleId>
              </a:tblPr>
              <a:tblGrid>
                <a:gridCol w="547816">
                  <a:extLst>
                    <a:ext uri="{9D8B030D-6E8A-4147-A177-3AD203B41FA5}">
                      <a16:colId xmlns:a16="http://schemas.microsoft.com/office/drawing/2014/main" val="1385285354"/>
                    </a:ext>
                  </a:extLst>
                </a:gridCol>
                <a:gridCol w="2817340">
                  <a:extLst>
                    <a:ext uri="{9D8B030D-6E8A-4147-A177-3AD203B41FA5}">
                      <a16:colId xmlns:a16="http://schemas.microsoft.com/office/drawing/2014/main" val="1413421062"/>
                    </a:ext>
                  </a:extLst>
                </a:gridCol>
                <a:gridCol w="1740244">
                  <a:extLst>
                    <a:ext uri="{9D8B030D-6E8A-4147-A177-3AD203B41FA5}">
                      <a16:colId xmlns:a16="http://schemas.microsoft.com/office/drawing/2014/main" val="852048222"/>
                    </a:ext>
                  </a:extLst>
                </a:gridCol>
                <a:gridCol w="762000">
                  <a:extLst>
                    <a:ext uri="{9D8B030D-6E8A-4147-A177-3AD203B41FA5}">
                      <a16:colId xmlns:a16="http://schemas.microsoft.com/office/drawing/2014/main" val="2656787842"/>
                    </a:ext>
                  </a:extLst>
                </a:gridCol>
                <a:gridCol w="1981200">
                  <a:extLst>
                    <a:ext uri="{9D8B030D-6E8A-4147-A177-3AD203B41FA5}">
                      <a16:colId xmlns:a16="http://schemas.microsoft.com/office/drawing/2014/main" val="3898845051"/>
                    </a:ext>
                  </a:extLst>
                </a:gridCol>
                <a:gridCol w="1828800">
                  <a:extLst>
                    <a:ext uri="{9D8B030D-6E8A-4147-A177-3AD203B41FA5}">
                      <a16:colId xmlns:a16="http://schemas.microsoft.com/office/drawing/2014/main" val="1255226202"/>
                    </a:ext>
                  </a:extLst>
                </a:gridCol>
                <a:gridCol w="1905000">
                  <a:extLst>
                    <a:ext uri="{9D8B030D-6E8A-4147-A177-3AD203B41FA5}">
                      <a16:colId xmlns:a16="http://schemas.microsoft.com/office/drawing/2014/main" val="1632655216"/>
                    </a:ext>
                  </a:extLst>
                </a:gridCol>
              </a:tblGrid>
              <a:tr h="222994">
                <a:tc>
                  <a:txBody>
                    <a:bodyPr/>
                    <a:lstStyle/>
                    <a:p>
                      <a:pPr algn="ctr"/>
                      <a:r>
                        <a:rPr lang="en-IN" sz="1400" b="1"/>
                        <a:t>S.No</a:t>
                      </a:r>
                    </a:p>
                  </a:txBody>
                  <a:tcPr marL="2988" marR="2988" marT="1494" marB="1494" anchor="ctr"/>
                </a:tc>
                <a:tc>
                  <a:txBody>
                    <a:bodyPr/>
                    <a:lstStyle/>
                    <a:p>
                      <a:pPr algn="ctr"/>
                      <a:r>
                        <a:rPr lang="en-IN" sz="1400" b="1"/>
                        <a:t>Title</a:t>
                      </a:r>
                    </a:p>
                  </a:txBody>
                  <a:tcPr marL="2988" marR="2988" marT="1494" marB="1494" anchor="ctr"/>
                </a:tc>
                <a:tc>
                  <a:txBody>
                    <a:bodyPr/>
                    <a:lstStyle/>
                    <a:p>
                      <a:pPr algn="ctr"/>
                      <a:r>
                        <a:rPr lang="en-IN" sz="1400" b="1"/>
                        <a:t>Author</a:t>
                      </a:r>
                    </a:p>
                  </a:txBody>
                  <a:tcPr marL="2988" marR="2988" marT="1494" marB="1494" anchor="ctr"/>
                </a:tc>
                <a:tc>
                  <a:txBody>
                    <a:bodyPr/>
                    <a:lstStyle/>
                    <a:p>
                      <a:pPr algn="ctr"/>
                      <a:r>
                        <a:rPr lang="en-IN" sz="1400" b="1"/>
                        <a:t>Year</a:t>
                      </a:r>
                    </a:p>
                  </a:txBody>
                  <a:tcPr marL="2988" marR="2988" marT="1494" marB="1494" anchor="ctr"/>
                </a:tc>
                <a:tc>
                  <a:txBody>
                    <a:bodyPr/>
                    <a:lstStyle/>
                    <a:p>
                      <a:pPr algn="ctr"/>
                      <a:r>
                        <a:rPr lang="en-IN" sz="1400" b="1"/>
                        <a:t>Method</a:t>
                      </a:r>
                    </a:p>
                  </a:txBody>
                  <a:tcPr marL="2988" marR="2988" marT="1494" marB="1494" anchor="ctr"/>
                </a:tc>
                <a:tc>
                  <a:txBody>
                    <a:bodyPr/>
                    <a:lstStyle/>
                    <a:p>
                      <a:pPr algn="ctr"/>
                      <a:r>
                        <a:rPr lang="en-IN" sz="1400" b="1"/>
                        <a:t>Pros</a:t>
                      </a:r>
                    </a:p>
                  </a:txBody>
                  <a:tcPr marL="2988" marR="2988" marT="1494" marB="1494" anchor="ctr"/>
                </a:tc>
                <a:tc>
                  <a:txBody>
                    <a:bodyPr/>
                    <a:lstStyle/>
                    <a:p>
                      <a:pPr algn="ctr"/>
                      <a:r>
                        <a:rPr lang="en-IN" sz="1400" b="1" dirty="0"/>
                        <a:t>Cons</a:t>
                      </a:r>
                    </a:p>
                  </a:txBody>
                  <a:tcPr marL="2988" marR="2988" marT="1494" marB="1494" anchor="ctr"/>
                </a:tc>
                <a:extLst>
                  <a:ext uri="{0D108BD9-81ED-4DB2-BD59-A6C34878D82A}">
                    <a16:rowId xmlns:a16="http://schemas.microsoft.com/office/drawing/2014/main" val="2510953917"/>
                  </a:ext>
                </a:extLst>
              </a:tr>
              <a:tr h="882737">
                <a:tc>
                  <a:txBody>
                    <a:bodyPr/>
                    <a:lstStyle/>
                    <a:p>
                      <a:pPr algn="l"/>
                      <a:r>
                        <a:rPr lang="en-IN" sz="1400" b="1"/>
                        <a:t>16</a:t>
                      </a:r>
                      <a:endParaRPr lang="en-IN" sz="1400"/>
                    </a:p>
                  </a:txBody>
                  <a:tcPr marL="2988" marR="2988" marT="1494" marB="1494" anchor="ctr"/>
                </a:tc>
                <a:tc>
                  <a:txBody>
                    <a:bodyPr/>
                    <a:lstStyle/>
                    <a:p>
                      <a:pPr algn="l"/>
                      <a:r>
                        <a:rPr lang="en-US" sz="1400" b="1"/>
                        <a:t>Foundation Models in Autonomous Driving: A Survey on Scenario Generation and Scenario Analysis</a:t>
                      </a:r>
                      <a:endParaRPr lang="en-US" sz="1400"/>
                    </a:p>
                  </a:txBody>
                  <a:tcPr marL="2988" marR="2988" marT="1494" marB="1494" anchor="ctr"/>
                </a:tc>
                <a:tc>
                  <a:txBody>
                    <a:bodyPr/>
                    <a:lstStyle/>
                    <a:p>
                      <a:pPr algn="l"/>
                      <a:r>
                        <a:rPr lang="en-IN" sz="1400"/>
                        <a:t>Y. Gao et al.</a:t>
                      </a:r>
                    </a:p>
                  </a:txBody>
                  <a:tcPr marL="2988" marR="2988" marT="1494" marB="1494" anchor="ctr"/>
                </a:tc>
                <a:tc>
                  <a:txBody>
                    <a:bodyPr/>
                    <a:lstStyle/>
                    <a:p>
                      <a:pPr algn="l"/>
                      <a:r>
                        <a:rPr lang="en-IN" sz="1400"/>
                        <a:t>2026</a:t>
                      </a:r>
                    </a:p>
                  </a:txBody>
                  <a:tcPr marL="2988" marR="2988" marT="1494" marB="1494" anchor="ctr"/>
                </a:tc>
                <a:tc>
                  <a:txBody>
                    <a:bodyPr/>
                    <a:lstStyle/>
                    <a:p>
                      <a:pPr algn="l"/>
                      <a:r>
                        <a:rPr lang="en-IN" sz="1400"/>
                        <a:t>Foundation Models, LLMs, VLMs, Multimodal LLMs</a:t>
                      </a:r>
                    </a:p>
                  </a:txBody>
                  <a:tcPr marL="2988" marR="2988" marT="1494" marB="1494" anchor="ctr"/>
                </a:tc>
                <a:tc>
                  <a:txBody>
                    <a:bodyPr/>
                    <a:lstStyle/>
                    <a:p>
                      <a:pPr algn="l"/>
                      <a:r>
                        <a:rPr lang="en-US" sz="1400"/>
                        <a:t>Provides diverse scenario generation and analysis using advanced AI models.</a:t>
                      </a:r>
                    </a:p>
                  </a:txBody>
                  <a:tcPr marL="2988" marR="2988" marT="1494" marB="1494" anchor="ctr"/>
                </a:tc>
                <a:tc>
                  <a:txBody>
                    <a:bodyPr/>
                    <a:lstStyle/>
                    <a:p>
                      <a:pPr algn="l"/>
                      <a:r>
                        <a:rPr lang="en-US" sz="1400"/>
                        <a:t>Focuses on autonomous driving rather than educational question generation.</a:t>
                      </a:r>
                    </a:p>
                  </a:txBody>
                  <a:tcPr marL="2988" marR="2988" marT="1494" marB="1494" anchor="ctr"/>
                </a:tc>
                <a:extLst>
                  <a:ext uri="{0D108BD9-81ED-4DB2-BD59-A6C34878D82A}">
                    <a16:rowId xmlns:a16="http://schemas.microsoft.com/office/drawing/2014/main" val="3319728050"/>
                  </a:ext>
                </a:extLst>
              </a:tr>
              <a:tr h="882737">
                <a:tc>
                  <a:txBody>
                    <a:bodyPr/>
                    <a:lstStyle/>
                    <a:p>
                      <a:pPr algn="l"/>
                      <a:r>
                        <a:rPr lang="en-IN" sz="1400" b="1"/>
                        <a:t>17</a:t>
                      </a:r>
                      <a:endParaRPr lang="en-IN" sz="1400"/>
                    </a:p>
                  </a:txBody>
                  <a:tcPr marL="2988" marR="2988" marT="1494" marB="1494" anchor="ctr"/>
                </a:tc>
                <a:tc>
                  <a:txBody>
                    <a:bodyPr/>
                    <a:lstStyle/>
                    <a:p>
                      <a:pPr algn="l"/>
                      <a:r>
                        <a:rPr lang="en-US" sz="1400" b="1"/>
                        <a:t>Decoding the Mystery: How Can LLMs Turn Text Into Cypher in Complex Knowledge Graphs?</a:t>
                      </a:r>
                      <a:endParaRPr lang="en-US" sz="1400"/>
                    </a:p>
                  </a:txBody>
                  <a:tcPr marL="2988" marR="2988" marT="1494" marB="1494" anchor="ctr"/>
                </a:tc>
                <a:tc>
                  <a:txBody>
                    <a:bodyPr/>
                    <a:lstStyle/>
                    <a:p>
                      <a:pPr algn="l"/>
                      <a:r>
                        <a:rPr lang="pt-BR" sz="1400" dirty="0"/>
                        <a:t>I. Mandilara, C. M. Androna, E. Fotopoulou, </a:t>
                      </a:r>
                    </a:p>
                  </a:txBody>
                  <a:tcPr marL="2988" marR="2988" marT="1494" marB="1494" anchor="ctr"/>
                </a:tc>
                <a:tc>
                  <a:txBody>
                    <a:bodyPr/>
                    <a:lstStyle/>
                    <a:p>
                      <a:pPr algn="l"/>
                      <a:r>
                        <a:rPr lang="en-IN" sz="1400"/>
                        <a:t>2025</a:t>
                      </a:r>
                    </a:p>
                  </a:txBody>
                  <a:tcPr marL="2988" marR="2988" marT="1494" marB="1494" anchor="ctr"/>
                </a:tc>
                <a:tc>
                  <a:txBody>
                    <a:bodyPr/>
                    <a:lstStyle/>
                    <a:p>
                      <a:pPr algn="l"/>
                      <a:r>
                        <a:rPr lang="en-US" sz="1400"/>
                        <a:t>LLM, Knowledge Graph, Text-to-Cypher, Schema-aware generation</a:t>
                      </a:r>
                    </a:p>
                  </a:txBody>
                  <a:tcPr marL="2988" marR="2988" marT="1494" marB="1494" anchor="ctr"/>
                </a:tc>
                <a:tc>
                  <a:txBody>
                    <a:bodyPr/>
                    <a:lstStyle/>
                    <a:p>
                      <a:pPr algn="l"/>
                      <a:r>
                        <a:rPr lang="en-US" sz="1400"/>
                        <a:t>Supports semantic understanding and structured knowledge retrieval.</a:t>
                      </a:r>
                    </a:p>
                  </a:txBody>
                  <a:tcPr marL="2988" marR="2988" marT="1494" marB="1494" anchor="ctr"/>
                </a:tc>
                <a:tc>
                  <a:txBody>
                    <a:bodyPr/>
                    <a:lstStyle/>
                    <a:p>
                      <a:pPr algn="l"/>
                      <a:r>
                        <a:rPr lang="en-US" sz="1400"/>
                        <a:t>Complex queries can reduce accuracy and require knowledge-graph infrastructure.</a:t>
                      </a:r>
                    </a:p>
                  </a:txBody>
                  <a:tcPr marL="2988" marR="2988" marT="1494" marB="1494" anchor="ctr"/>
                </a:tc>
                <a:extLst>
                  <a:ext uri="{0D108BD9-81ED-4DB2-BD59-A6C34878D82A}">
                    <a16:rowId xmlns:a16="http://schemas.microsoft.com/office/drawing/2014/main" val="1325972836"/>
                  </a:ext>
                </a:extLst>
              </a:tr>
              <a:tr h="1102652">
                <a:tc>
                  <a:txBody>
                    <a:bodyPr/>
                    <a:lstStyle/>
                    <a:p>
                      <a:pPr algn="l"/>
                      <a:r>
                        <a:rPr lang="en-IN" sz="1400" b="1"/>
                        <a:t>18</a:t>
                      </a:r>
                      <a:endParaRPr lang="en-IN" sz="1400"/>
                    </a:p>
                  </a:txBody>
                  <a:tcPr marL="2988" marR="2988" marT="1494" marB="1494" anchor="ctr"/>
                </a:tc>
                <a:tc>
                  <a:txBody>
                    <a:bodyPr/>
                    <a:lstStyle/>
                    <a:p>
                      <a:pPr algn="l"/>
                      <a:r>
                        <a:rPr lang="en-US" sz="1400" b="1"/>
                        <a:t>Question Answering on Lengthy Arabic Narrative Books</a:t>
                      </a:r>
                      <a:endParaRPr lang="en-US" sz="1400"/>
                    </a:p>
                  </a:txBody>
                  <a:tcPr marL="2988" marR="2988" marT="1494" marB="1494" anchor="ctr"/>
                </a:tc>
                <a:tc>
                  <a:txBody>
                    <a:bodyPr/>
                    <a:lstStyle/>
                    <a:p>
                      <a:pPr algn="l"/>
                      <a:r>
                        <a:rPr lang="en-IN" sz="1400"/>
                        <a:t>M. A. Ateeq, S. Tiun, H. Abdelhaq, W. Kaur</a:t>
                      </a:r>
                    </a:p>
                  </a:txBody>
                  <a:tcPr marL="2988" marR="2988" marT="1494" marB="1494" anchor="ctr"/>
                </a:tc>
                <a:tc>
                  <a:txBody>
                    <a:bodyPr/>
                    <a:lstStyle/>
                    <a:p>
                      <a:pPr algn="l"/>
                      <a:r>
                        <a:rPr lang="en-IN" sz="1400"/>
                        <a:t>2026</a:t>
                      </a:r>
                    </a:p>
                  </a:txBody>
                  <a:tcPr marL="2988" marR="2988" marT="1494" marB="1494" anchor="ctr"/>
                </a:tc>
                <a:tc>
                  <a:txBody>
                    <a:bodyPr/>
                    <a:lstStyle/>
                    <a:p>
                      <a:pPr algn="l"/>
                      <a:r>
                        <a:rPr lang="en-IN" sz="1400"/>
                        <a:t>RAG, LLM-generated question-passage pairs, semantic retrieval</a:t>
                      </a:r>
                    </a:p>
                  </a:txBody>
                  <a:tcPr marL="2988" marR="2988" marT="1494" marB="1494" anchor="ctr"/>
                </a:tc>
                <a:tc>
                  <a:txBody>
                    <a:bodyPr/>
                    <a:lstStyle/>
                    <a:p>
                      <a:pPr algn="l"/>
                      <a:r>
                        <a:rPr lang="en-US" sz="1400"/>
                        <a:t>Improves retrieval from lengthy documents and reduces LLM processing cost.</a:t>
                      </a:r>
                    </a:p>
                  </a:txBody>
                  <a:tcPr marL="2988" marR="2988" marT="1494" marB="1494" anchor="ctr"/>
                </a:tc>
                <a:tc>
                  <a:txBody>
                    <a:bodyPr/>
                    <a:lstStyle/>
                    <a:p>
                      <a:pPr algn="l"/>
                      <a:r>
                        <a:rPr lang="en-US" sz="1400"/>
                        <a:t>Designed for Arabic narrative books and requires additional processing for other domains.</a:t>
                      </a:r>
                    </a:p>
                  </a:txBody>
                  <a:tcPr marL="2988" marR="2988" marT="1494" marB="1494" anchor="ctr"/>
                </a:tc>
                <a:extLst>
                  <a:ext uri="{0D108BD9-81ED-4DB2-BD59-A6C34878D82A}">
                    <a16:rowId xmlns:a16="http://schemas.microsoft.com/office/drawing/2014/main" val="672840822"/>
                  </a:ext>
                </a:extLst>
              </a:tr>
              <a:tr h="882737">
                <a:tc>
                  <a:txBody>
                    <a:bodyPr/>
                    <a:lstStyle/>
                    <a:p>
                      <a:pPr algn="l"/>
                      <a:r>
                        <a:rPr lang="en-IN" sz="1400" b="1"/>
                        <a:t>19</a:t>
                      </a:r>
                      <a:endParaRPr lang="en-IN" sz="1400"/>
                    </a:p>
                  </a:txBody>
                  <a:tcPr marL="2988" marR="2988" marT="1494" marB="1494" anchor="ctr"/>
                </a:tc>
                <a:tc>
                  <a:txBody>
                    <a:bodyPr/>
                    <a:lstStyle/>
                    <a:p>
                      <a:pPr algn="l"/>
                      <a:r>
                        <a:rPr lang="en-US" sz="1400" b="1"/>
                        <a:t>Hybrid Layered Retrieval and Task-Aware Embeddings for Efficient Persian RAG Systems</a:t>
                      </a:r>
                      <a:endParaRPr lang="en-US" sz="1400"/>
                    </a:p>
                  </a:txBody>
                  <a:tcPr marL="2988" marR="2988" marT="1494" marB="1494" anchor="ctr"/>
                </a:tc>
                <a:tc>
                  <a:txBody>
                    <a:bodyPr/>
                    <a:lstStyle/>
                    <a:p>
                      <a:pPr algn="l"/>
                      <a:r>
                        <a:rPr lang="en-IN" sz="1400" dirty="0"/>
                        <a:t>T. </a:t>
                      </a:r>
                      <a:r>
                        <a:rPr lang="en-IN" sz="1400" dirty="0" err="1"/>
                        <a:t>Zoughi</a:t>
                      </a:r>
                      <a:r>
                        <a:rPr lang="en-IN" sz="1400" dirty="0"/>
                        <a:t>, E. </a:t>
                      </a:r>
                      <a:r>
                        <a:rPr lang="en-IN" sz="1400" dirty="0" err="1"/>
                        <a:t>Arianyan</a:t>
                      </a:r>
                      <a:r>
                        <a:rPr lang="en-IN" sz="1400" dirty="0"/>
                        <a:t>, M. </a:t>
                      </a:r>
                      <a:r>
                        <a:rPr lang="en-IN" sz="1400" dirty="0" err="1"/>
                        <a:t>Mahmoudi</a:t>
                      </a:r>
                      <a:r>
                        <a:rPr lang="en-IN" sz="1400" dirty="0"/>
                        <a:t>, </a:t>
                      </a:r>
                    </a:p>
                  </a:txBody>
                  <a:tcPr marL="2988" marR="2988" marT="1494" marB="1494" anchor="ctr"/>
                </a:tc>
                <a:tc>
                  <a:txBody>
                    <a:bodyPr/>
                    <a:lstStyle/>
                    <a:p>
                      <a:pPr algn="l"/>
                      <a:r>
                        <a:rPr lang="en-IN" sz="1400"/>
                        <a:t>2026</a:t>
                      </a:r>
                    </a:p>
                  </a:txBody>
                  <a:tcPr marL="2988" marR="2988" marT="1494" marB="1494" anchor="ctr"/>
                </a:tc>
                <a:tc>
                  <a:txBody>
                    <a:bodyPr/>
                    <a:lstStyle/>
                    <a:p>
                      <a:pPr algn="l"/>
                      <a:r>
                        <a:rPr lang="en-US" sz="1400"/>
                        <a:t>Hybrid RAG, FAISS, BM25, task-aware embeddings</a:t>
                      </a:r>
                    </a:p>
                  </a:txBody>
                  <a:tcPr marL="2988" marR="2988" marT="1494" marB="1494" anchor="ctr"/>
                </a:tc>
                <a:tc>
                  <a:txBody>
                    <a:bodyPr/>
                    <a:lstStyle/>
                    <a:p>
                      <a:pPr algn="l"/>
                      <a:r>
                        <a:rPr lang="en-US" sz="1400" dirty="0"/>
                        <a:t>Improves retrieval accuracy, efficiency, and scalability.</a:t>
                      </a:r>
                    </a:p>
                  </a:txBody>
                  <a:tcPr marL="2988" marR="2988" marT="1494" marB="1494" anchor="ctr"/>
                </a:tc>
                <a:tc>
                  <a:txBody>
                    <a:bodyPr/>
                    <a:lstStyle/>
                    <a:p>
                      <a:pPr algn="l"/>
                      <a:r>
                        <a:rPr lang="en-US" sz="1400"/>
                        <a:t>Performance can depend on hardware and language-specific embedding models.</a:t>
                      </a:r>
                    </a:p>
                  </a:txBody>
                  <a:tcPr marL="2988" marR="2988" marT="1494" marB="1494" anchor="ctr"/>
                </a:tc>
                <a:extLst>
                  <a:ext uri="{0D108BD9-81ED-4DB2-BD59-A6C34878D82A}">
                    <a16:rowId xmlns:a16="http://schemas.microsoft.com/office/drawing/2014/main" val="2958251755"/>
                  </a:ext>
                </a:extLst>
              </a:tr>
              <a:tr h="1272147">
                <a:tc>
                  <a:txBody>
                    <a:bodyPr/>
                    <a:lstStyle/>
                    <a:p>
                      <a:pPr algn="l"/>
                      <a:r>
                        <a:rPr lang="en-IN" sz="1400" b="1"/>
                        <a:t>20</a:t>
                      </a:r>
                      <a:endParaRPr lang="en-IN" sz="1400"/>
                    </a:p>
                  </a:txBody>
                  <a:tcPr marL="2988" marR="2988" marT="1494" marB="1494" anchor="ctr"/>
                </a:tc>
                <a:tc>
                  <a:txBody>
                    <a:bodyPr/>
                    <a:lstStyle/>
                    <a:p>
                      <a:pPr algn="l"/>
                      <a:r>
                        <a:rPr lang="en-US" sz="1400" b="1"/>
                        <a:t>TelecomGPT: A Framework to Build Telecom-Specific Large Language Models</a:t>
                      </a:r>
                      <a:endParaRPr lang="en-US" sz="1400"/>
                    </a:p>
                  </a:txBody>
                  <a:tcPr marL="2988" marR="2988" marT="1494" marB="1494" anchor="ctr"/>
                </a:tc>
                <a:tc>
                  <a:txBody>
                    <a:bodyPr/>
                    <a:lstStyle/>
                    <a:p>
                      <a:pPr algn="l"/>
                      <a:r>
                        <a:rPr lang="en-IN" sz="1400"/>
                        <a:t>H. Zou et al.</a:t>
                      </a:r>
                    </a:p>
                  </a:txBody>
                  <a:tcPr marL="2988" marR="2988" marT="1494" marB="1494" anchor="ctr"/>
                </a:tc>
                <a:tc>
                  <a:txBody>
                    <a:bodyPr/>
                    <a:lstStyle/>
                    <a:p>
                      <a:pPr algn="l"/>
                      <a:r>
                        <a:rPr lang="en-IN" sz="1400" dirty="0"/>
                        <a:t>2025</a:t>
                      </a:r>
                    </a:p>
                  </a:txBody>
                  <a:tcPr marL="2988" marR="2988" marT="1494" marB="1494" anchor="ctr"/>
                </a:tc>
                <a:tc>
                  <a:txBody>
                    <a:bodyPr/>
                    <a:lstStyle/>
                    <a:p>
                      <a:pPr algn="l"/>
                      <a:r>
                        <a:rPr lang="en-US" sz="1400"/>
                        <a:t>Continual pre-training, instruction tuning, alignment tuning</a:t>
                      </a:r>
                    </a:p>
                  </a:txBody>
                  <a:tcPr marL="2988" marR="2988" marT="1494" marB="1494" anchor="ctr"/>
                </a:tc>
                <a:tc>
                  <a:txBody>
                    <a:bodyPr/>
                    <a:lstStyle/>
                    <a:p>
                      <a:pPr algn="l"/>
                      <a:r>
                        <a:rPr lang="en-US" sz="1400"/>
                        <a:t>Improves domain-specific LLM performance using specialized datasets.</a:t>
                      </a:r>
                    </a:p>
                  </a:txBody>
                  <a:tcPr marL="2988" marR="2988" marT="1494" marB="1494" anchor="ctr"/>
                </a:tc>
                <a:tc>
                  <a:txBody>
                    <a:bodyPr/>
                    <a:lstStyle/>
                    <a:p>
                      <a:pPr algn="l"/>
                      <a:r>
                        <a:rPr lang="en-IN" sz="1400" dirty="0"/>
                        <a:t>Requires large domain-specific datasets and significant computational resources.</a:t>
                      </a:r>
                    </a:p>
                  </a:txBody>
                  <a:tcPr marL="2988" marR="2988" marT="1494" marB="1494" anchor="ctr"/>
                </a:tc>
                <a:extLst>
                  <a:ext uri="{0D108BD9-81ED-4DB2-BD59-A6C34878D82A}">
                    <a16:rowId xmlns:a16="http://schemas.microsoft.com/office/drawing/2014/main" val="4098118218"/>
                  </a:ext>
                </a:extLst>
              </a:tr>
            </a:tbl>
          </a:graphicData>
        </a:graphic>
      </p:graphicFrame>
    </p:spTree>
    <p:extLst>
      <p:ext uri="{BB962C8B-B14F-4D97-AF65-F5344CB8AC3E}">
        <p14:creationId xmlns:p14="http://schemas.microsoft.com/office/powerpoint/2010/main" val="4079780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73509-AB2E-A84A-4BF5-F3125E54AB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333F5-C962-2129-A5F5-7B7E218C23DB}"/>
              </a:ext>
            </a:extLst>
          </p:cNvPr>
          <p:cNvSpPr>
            <a:spLocks noGrp="1"/>
          </p:cNvSpPr>
          <p:nvPr>
            <p:ph type="title"/>
          </p:nvPr>
        </p:nvSpPr>
        <p:spPr/>
        <p:txBody>
          <a:bodyPr/>
          <a:lstStyle/>
          <a:p>
            <a:r>
              <a:rPr lang="en-IN" dirty="0"/>
              <a:t>LITERATURE SURVEY</a:t>
            </a:r>
          </a:p>
        </p:txBody>
      </p:sp>
      <p:sp>
        <p:nvSpPr>
          <p:cNvPr id="4" name="Footer Placeholder 3">
            <a:extLst>
              <a:ext uri="{FF2B5EF4-FFF2-40B4-BE49-F238E27FC236}">
                <a16:creationId xmlns:a16="http://schemas.microsoft.com/office/drawing/2014/main" id="{0F5FDE90-C586-4727-5BA7-3088C7ED57CF}"/>
              </a:ext>
            </a:extLst>
          </p:cNvPr>
          <p:cNvSpPr>
            <a:spLocks noGrp="1"/>
          </p:cNvSpPr>
          <p:nvPr>
            <p:ph type="ftr" sz="quarter" idx="5"/>
          </p:nvPr>
        </p:nvSpPr>
        <p:spPr/>
        <p:txBody>
          <a:bodyPr/>
          <a:lstStyle/>
          <a:p>
            <a:r>
              <a:rPr lang="en-IN"/>
              <a:t>zeroth review-Dissertation-I</a:t>
            </a:r>
          </a:p>
        </p:txBody>
      </p:sp>
      <p:sp>
        <p:nvSpPr>
          <p:cNvPr id="5" name="Date Placeholder 4">
            <a:extLst>
              <a:ext uri="{FF2B5EF4-FFF2-40B4-BE49-F238E27FC236}">
                <a16:creationId xmlns:a16="http://schemas.microsoft.com/office/drawing/2014/main" id="{F3096BF0-AB71-A704-6ED8-60D13B438B71}"/>
              </a:ext>
            </a:extLst>
          </p:cNvPr>
          <p:cNvSpPr>
            <a:spLocks noGrp="1"/>
          </p:cNvSpPr>
          <p:nvPr>
            <p:ph type="dt" sz="half" idx="6"/>
          </p:nvPr>
        </p:nvSpPr>
        <p:spPr/>
        <p:txBody>
          <a:bodyPr/>
          <a:lstStyle/>
          <a:p>
            <a:fld id="{765B16AA-8AD8-2745-88E2-8EF311F85238}" type="datetime1">
              <a:rPr lang="en-IN" smtClean="0"/>
              <a:t>13-08-2026</a:t>
            </a:fld>
            <a:endParaRPr lang="en-US"/>
          </a:p>
        </p:txBody>
      </p:sp>
      <p:graphicFrame>
        <p:nvGraphicFramePr>
          <p:cNvPr id="3" name="Table 2">
            <a:extLst>
              <a:ext uri="{FF2B5EF4-FFF2-40B4-BE49-F238E27FC236}">
                <a16:creationId xmlns:a16="http://schemas.microsoft.com/office/drawing/2014/main" id="{E1B984C4-AD7B-D2DD-C69E-CBD6D560C797}"/>
              </a:ext>
            </a:extLst>
          </p:cNvPr>
          <p:cNvGraphicFramePr>
            <a:graphicFrameLocks noGrp="1"/>
          </p:cNvGraphicFramePr>
          <p:nvPr>
            <p:extLst>
              <p:ext uri="{D42A27DB-BD31-4B8C-83A1-F6EECF244321}">
                <p14:modId xmlns:p14="http://schemas.microsoft.com/office/powerpoint/2010/main" val="3930199061"/>
              </p:ext>
            </p:extLst>
          </p:nvPr>
        </p:nvGraphicFramePr>
        <p:xfrm>
          <a:off x="457200" y="461495"/>
          <a:ext cx="11429999" cy="4740938"/>
        </p:xfrm>
        <a:graphic>
          <a:graphicData uri="http://schemas.openxmlformats.org/drawingml/2006/table">
            <a:tbl>
              <a:tblPr>
                <a:tableStyleId>{5940675A-B579-460E-94D1-54222C63F5DA}</a:tableStyleId>
              </a:tblPr>
              <a:tblGrid>
                <a:gridCol w="457200">
                  <a:extLst>
                    <a:ext uri="{9D8B030D-6E8A-4147-A177-3AD203B41FA5}">
                      <a16:colId xmlns:a16="http://schemas.microsoft.com/office/drawing/2014/main" val="3773257643"/>
                    </a:ext>
                  </a:extLst>
                </a:gridCol>
                <a:gridCol w="2514600">
                  <a:extLst>
                    <a:ext uri="{9D8B030D-6E8A-4147-A177-3AD203B41FA5}">
                      <a16:colId xmlns:a16="http://schemas.microsoft.com/office/drawing/2014/main" val="3201346864"/>
                    </a:ext>
                  </a:extLst>
                </a:gridCol>
                <a:gridCol w="1447800">
                  <a:extLst>
                    <a:ext uri="{9D8B030D-6E8A-4147-A177-3AD203B41FA5}">
                      <a16:colId xmlns:a16="http://schemas.microsoft.com/office/drawing/2014/main" val="2410527817"/>
                    </a:ext>
                  </a:extLst>
                </a:gridCol>
                <a:gridCol w="762000">
                  <a:extLst>
                    <a:ext uri="{9D8B030D-6E8A-4147-A177-3AD203B41FA5}">
                      <a16:colId xmlns:a16="http://schemas.microsoft.com/office/drawing/2014/main" val="3935539911"/>
                    </a:ext>
                  </a:extLst>
                </a:gridCol>
                <a:gridCol w="1828800">
                  <a:extLst>
                    <a:ext uri="{9D8B030D-6E8A-4147-A177-3AD203B41FA5}">
                      <a16:colId xmlns:a16="http://schemas.microsoft.com/office/drawing/2014/main" val="1935029500"/>
                    </a:ext>
                  </a:extLst>
                </a:gridCol>
                <a:gridCol w="2133600">
                  <a:extLst>
                    <a:ext uri="{9D8B030D-6E8A-4147-A177-3AD203B41FA5}">
                      <a16:colId xmlns:a16="http://schemas.microsoft.com/office/drawing/2014/main" val="3663003538"/>
                    </a:ext>
                  </a:extLst>
                </a:gridCol>
                <a:gridCol w="2285999">
                  <a:extLst>
                    <a:ext uri="{9D8B030D-6E8A-4147-A177-3AD203B41FA5}">
                      <a16:colId xmlns:a16="http://schemas.microsoft.com/office/drawing/2014/main" val="3845818463"/>
                    </a:ext>
                  </a:extLst>
                </a:gridCol>
              </a:tblGrid>
              <a:tr h="210530">
                <a:tc>
                  <a:txBody>
                    <a:bodyPr/>
                    <a:lstStyle/>
                    <a:p>
                      <a:pPr algn="ctr"/>
                      <a:r>
                        <a:rPr lang="en-IN" sz="1400" b="1"/>
                        <a:t>S.No</a:t>
                      </a:r>
                    </a:p>
                  </a:txBody>
                  <a:tcPr marL="2607" marR="2607" marT="1304" marB="1304" anchor="ctr"/>
                </a:tc>
                <a:tc>
                  <a:txBody>
                    <a:bodyPr/>
                    <a:lstStyle/>
                    <a:p>
                      <a:pPr algn="ctr"/>
                      <a:r>
                        <a:rPr lang="en-IN" sz="1400" b="1"/>
                        <a:t>Title</a:t>
                      </a:r>
                    </a:p>
                  </a:txBody>
                  <a:tcPr marL="2607" marR="2607" marT="1304" marB="1304" anchor="ctr"/>
                </a:tc>
                <a:tc>
                  <a:txBody>
                    <a:bodyPr/>
                    <a:lstStyle/>
                    <a:p>
                      <a:pPr algn="ctr"/>
                      <a:r>
                        <a:rPr lang="en-IN" sz="1400" b="1"/>
                        <a:t>Author</a:t>
                      </a:r>
                    </a:p>
                  </a:txBody>
                  <a:tcPr marL="2607" marR="2607" marT="1304" marB="1304" anchor="ctr"/>
                </a:tc>
                <a:tc>
                  <a:txBody>
                    <a:bodyPr/>
                    <a:lstStyle/>
                    <a:p>
                      <a:pPr algn="ctr"/>
                      <a:r>
                        <a:rPr lang="en-IN" sz="1400" b="1"/>
                        <a:t>Year</a:t>
                      </a:r>
                    </a:p>
                  </a:txBody>
                  <a:tcPr marL="2607" marR="2607" marT="1304" marB="1304" anchor="ctr"/>
                </a:tc>
                <a:tc>
                  <a:txBody>
                    <a:bodyPr/>
                    <a:lstStyle/>
                    <a:p>
                      <a:pPr algn="ctr"/>
                      <a:r>
                        <a:rPr lang="en-IN" sz="1400" b="1"/>
                        <a:t>Method</a:t>
                      </a:r>
                    </a:p>
                  </a:txBody>
                  <a:tcPr marL="2607" marR="2607" marT="1304" marB="1304" anchor="ctr"/>
                </a:tc>
                <a:tc>
                  <a:txBody>
                    <a:bodyPr/>
                    <a:lstStyle/>
                    <a:p>
                      <a:pPr algn="ctr"/>
                      <a:r>
                        <a:rPr lang="en-IN" sz="1400" b="1"/>
                        <a:t>Pros</a:t>
                      </a:r>
                    </a:p>
                  </a:txBody>
                  <a:tcPr marL="2607" marR="2607" marT="1304" marB="1304" anchor="ctr"/>
                </a:tc>
                <a:tc>
                  <a:txBody>
                    <a:bodyPr/>
                    <a:lstStyle/>
                    <a:p>
                      <a:pPr algn="ctr"/>
                      <a:r>
                        <a:rPr lang="en-IN" sz="1400" b="1" dirty="0"/>
                        <a:t>Cons</a:t>
                      </a:r>
                    </a:p>
                  </a:txBody>
                  <a:tcPr marL="2607" marR="2607" marT="1304" marB="1304" anchor="ctr"/>
                </a:tc>
                <a:extLst>
                  <a:ext uri="{0D108BD9-81ED-4DB2-BD59-A6C34878D82A}">
                    <a16:rowId xmlns:a16="http://schemas.microsoft.com/office/drawing/2014/main" val="3023123759"/>
                  </a:ext>
                </a:extLst>
              </a:tr>
              <a:tr h="1042480">
                <a:tc>
                  <a:txBody>
                    <a:bodyPr/>
                    <a:lstStyle/>
                    <a:p>
                      <a:pPr algn="l"/>
                      <a:r>
                        <a:rPr lang="en-IN" sz="1400" b="1"/>
                        <a:t>21</a:t>
                      </a:r>
                      <a:endParaRPr lang="en-IN" sz="1400"/>
                    </a:p>
                  </a:txBody>
                  <a:tcPr marL="2607" marR="2607" marT="1304" marB="1304" anchor="ctr"/>
                </a:tc>
                <a:tc>
                  <a:txBody>
                    <a:bodyPr/>
                    <a:lstStyle/>
                    <a:p>
                      <a:pPr algn="l"/>
                      <a:r>
                        <a:rPr lang="en-US" sz="1400" b="1"/>
                        <a:t>Question Answering on Lengthy Arabic Narrative Books</a:t>
                      </a:r>
                      <a:endParaRPr lang="en-US" sz="1400"/>
                    </a:p>
                  </a:txBody>
                  <a:tcPr marL="2607" marR="2607" marT="1304" marB="1304" anchor="ctr"/>
                </a:tc>
                <a:tc>
                  <a:txBody>
                    <a:bodyPr/>
                    <a:lstStyle/>
                    <a:p>
                      <a:pPr algn="l"/>
                      <a:r>
                        <a:rPr lang="en-IN" sz="1400"/>
                        <a:t>M. A. Ateeq, S. Tiun, H. Abdelhaq, W. Kaur</a:t>
                      </a:r>
                    </a:p>
                  </a:txBody>
                  <a:tcPr marL="2607" marR="2607" marT="1304" marB="1304" anchor="ctr"/>
                </a:tc>
                <a:tc>
                  <a:txBody>
                    <a:bodyPr/>
                    <a:lstStyle/>
                    <a:p>
                      <a:pPr algn="l"/>
                      <a:r>
                        <a:rPr lang="en-IN" sz="1400"/>
                        <a:t>2026</a:t>
                      </a:r>
                    </a:p>
                  </a:txBody>
                  <a:tcPr marL="2607" marR="2607" marT="1304" marB="1304" anchor="ctr"/>
                </a:tc>
                <a:tc>
                  <a:txBody>
                    <a:bodyPr/>
                    <a:lstStyle/>
                    <a:p>
                      <a:pPr algn="l"/>
                      <a:r>
                        <a:rPr lang="en-US" sz="1400"/>
                        <a:t>RAG, annotation-free retriever, synthetic question-passage pairs, semantic coherence scoring</a:t>
                      </a:r>
                    </a:p>
                  </a:txBody>
                  <a:tcPr marL="2607" marR="2607" marT="1304" marB="1304" anchor="ctr"/>
                </a:tc>
                <a:tc>
                  <a:txBody>
                    <a:bodyPr/>
                    <a:lstStyle/>
                    <a:p>
                      <a:pPr algn="l"/>
                      <a:r>
                        <a:rPr lang="en-US" sz="1400"/>
                        <a:t>Improves retrieval from lengthy documents and reduces LLM processing cost.</a:t>
                      </a:r>
                    </a:p>
                  </a:txBody>
                  <a:tcPr marL="2607" marR="2607" marT="1304" marB="1304" anchor="ctr"/>
                </a:tc>
                <a:tc>
                  <a:txBody>
                    <a:bodyPr/>
                    <a:lstStyle/>
                    <a:p>
                      <a:pPr algn="l"/>
                      <a:r>
                        <a:rPr lang="en-US" sz="1400"/>
                        <a:t>Mainly designed for Arabic narrative documents and requires additional adaptation for educational syllabi.</a:t>
                      </a:r>
                    </a:p>
                  </a:txBody>
                  <a:tcPr marL="2607" marR="2607" marT="1304" marB="1304" anchor="ctr"/>
                </a:tc>
                <a:extLst>
                  <a:ext uri="{0D108BD9-81ED-4DB2-BD59-A6C34878D82A}">
                    <a16:rowId xmlns:a16="http://schemas.microsoft.com/office/drawing/2014/main" val="2386198558"/>
                  </a:ext>
                </a:extLst>
              </a:tr>
              <a:tr h="1042480">
                <a:tc>
                  <a:txBody>
                    <a:bodyPr/>
                    <a:lstStyle/>
                    <a:p>
                      <a:pPr algn="l"/>
                      <a:r>
                        <a:rPr lang="en-IN" sz="1400" b="1"/>
                        <a:t>22</a:t>
                      </a:r>
                      <a:endParaRPr lang="en-IN" sz="1400"/>
                    </a:p>
                  </a:txBody>
                  <a:tcPr marL="2607" marR="2607" marT="1304" marB="1304" anchor="ctr"/>
                </a:tc>
                <a:tc>
                  <a:txBody>
                    <a:bodyPr/>
                    <a:lstStyle/>
                    <a:p>
                      <a:pPr algn="l"/>
                      <a:r>
                        <a:rPr lang="en-US" sz="1400" b="1"/>
                        <a:t>Hybrid Layered Retrieval and Task-Aware Embeddings for Efficient Persian RAG Systems</a:t>
                      </a:r>
                      <a:endParaRPr lang="en-US" sz="1400"/>
                    </a:p>
                  </a:txBody>
                  <a:tcPr marL="2607" marR="2607" marT="1304" marB="1304" anchor="ctr"/>
                </a:tc>
                <a:tc>
                  <a:txBody>
                    <a:bodyPr/>
                    <a:lstStyle/>
                    <a:p>
                      <a:pPr algn="l"/>
                      <a:r>
                        <a:rPr lang="en-IN" sz="1400"/>
                        <a:t>T. Zoughi, E. Arianyan, M. Mahmoudi, M. Aghdamifard, M. Nikoogoftar</a:t>
                      </a:r>
                    </a:p>
                  </a:txBody>
                  <a:tcPr marL="2607" marR="2607" marT="1304" marB="1304" anchor="ctr"/>
                </a:tc>
                <a:tc>
                  <a:txBody>
                    <a:bodyPr/>
                    <a:lstStyle/>
                    <a:p>
                      <a:pPr algn="l"/>
                      <a:r>
                        <a:rPr lang="en-IN" sz="1400" dirty="0"/>
                        <a:t>2026</a:t>
                      </a:r>
                    </a:p>
                  </a:txBody>
                  <a:tcPr marL="2607" marR="2607" marT="1304" marB="1304" anchor="ctr"/>
                </a:tc>
                <a:tc>
                  <a:txBody>
                    <a:bodyPr/>
                    <a:lstStyle/>
                    <a:p>
                      <a:pPr algn="l"/>
                      <a:r>
                        <a:rPr lang="en-US" sz="1400"/>
                        <a:t>TILHR-RAG, FAISS, BM25, task-aware embeddings</a:t>
                      </a:r>
                    </a:p>
                  </a:txBody>
                  <a:tcPr marL="2607" marR="2607" marT="1304" marB="1304" anchor="ctr"/>
                </a:tc>
                <a:tc>
                  <a:txBody>
                    <a:bodyPr/>
                    <a:lstStyle/>
                    <a:p>
                      <a:pPr algn="l"/>
                      <a:r>
                        <a:rPr lang="en-US" sz="1400"/>
                        <a:t>Provides accurate and efficient retrieval by combining semantic and keyword search.</a:t>
                      </a:r>
                    </a:p>
                  </a:txBody>
                  <a:tcPr marL="2607" marR="2607" marT="1304" marB="1304" anchor="ctr"/>
                </a:tc>
                <a:tc>
                  <a:txBody>
                    <a:bodyPr/>
                    <a:lstStyle/>
                    <a:p>
                      <a:pPr algn="l"/>
                      <a:r>
                        <a:rPr lang="en-US" sz="1400"/>
                        <a:t>Performance depends on suitable embeddings and computational resources.</a:t>
                      </a:r>
                    </a:p>
                  </a:txBody>
                  <a:tcPr marL="2607" marR="2607" marT="1304" marB="1304" anchor="ctr"/>
                </a:tc>
                <a:extLst>
                  <a:ext uri="{0D108BD9-81ED-4DB2-BD59-A6C34878D82A}">
                    <a16:rowId xmlns:a16="http://schemas.microsoft.com/office/drawing/2014/main" val="1790194852"/>
                  </a:ext>
                </a:extLst>
              </a:tr>
              <a:tr h="626505">
                <a:tc>
                  <a:txBody>
                    <a:bodyPr/>
                    <a:lstStyle/>
                    <a:p>
                      <a:pPr algn="l"/>
                      <a:r>
                        <a:rPr lang="en-IN" sz="1400" b="1"/>
                        <a:t>23</a:t>
                      </a:r>
                      <a:endParaRPr lang="en-IN" sz="1400"/>
                    </a:p>
                  </a:txBody>
                  <a:tcPr marL="2607" marR="2607" marT="1304" marB="1304" anchor="ctr"/>
                </a:tc>
                <a:tc>
                  <a:txBody>
                    <a:bodyPr/>
                    <a:lstStyle/>
                    <a:p>
                      <a:pPr algn="l"/>
                      <a:r>
                        <a:rPr lang="en-US" sz="1400" b="1"/>
                        <a:t>TelecomGPT: A Framework to Build Telecom-Specific Large Language Models</a:t>
                      </a:r>
                      <a:endParaRPr lang="en-US" sz="1400"/>
                    </a:p>
                  </a:txBody>
                  <a:tcPr marL="2607" marR="2607" marT="1304" marB="1304" anchor="ctr"/>
                </a:tc>
                <a:tc>
                  <a:txBody>
                    <a:bodyPr/>
                    <a:lstStyle/>
                    <a:p>
                      <a:pPr algn="l"/>
                      <a:r>
                        <a:rPr lang="en-IN" sz="1400"/>
                        <a:t>H. Zou et al.</a:t>
                      </a:r>
                    </a:p>
                  </a:txBody>
                  <a:tcPr marL="2607" marR="2607" marT="1304" marB="1304" anchor="ctr"/>
                </a:tc>
                <a:tc>
                  <a:txBody>
                    <a:bodyPr/>
                    <a:lstStyle/>
                    <a:p>
                      <a:pPr algn="l"/>
                      <a:r>
                        <a:rPr lang="en-IN" sz="1400"/>
                        <a:t>2025</a:t>
                      </a:r>
                    </a:p>
                  </a:txBody>
                  <a:tcPr marL="2607" marR="2607" marT="1304" marB="1304" anchor="ctr"/>
                </a:tc>
                <a:tc>
                  <a:txBody>
                    <a:bodyPr/>
                    <a:lstStyle/>
                    <a:p>
                      <a:pPr algn="l"/>
                      <a:r>
                        <a:rPr lang="en-US" sz="1400"/>
                        <a:t>Continual pre-training, instruction tuning, alignment tuning</a:t>
                      </a:r>
                    </a:p>
                  </a:txBody>
                  <a:tcPr marL="2607" marR="2607" marT="1304" marB="1304" anchor="ctr"/>
                </a:tc>
                <a:tc>
                  <a:txBody>
                    <a:bodyPr/>
                    <a:lstStyle/>
                    <a:p>
                      <a:pPr algn="l"/>
                      <a:r>
                        <a:rPr lang="en-US" sz="1400"/>
                        <a:t>Improves LLM performance for domain-specific knowledge and tasks.</a:t>
                      </a:r>
                    </a:p>
                  </a:txBody>
                  <a:tcPr marL="2607" marR="2607" marT="1304" marB="1304" anchor="ctr"/>
                </a:tc>
                <a:tc>
                  <a:txBody>
                    <a:bodyPr/>
                    <a:lstStyle/>
                    <a:p>
                      <a:pPr algn="l"/>
                      <a:r>
                        <a:rPr lang="en-US" sz="1400"/>
                        <a:t>Requires domain-specific datasets and considerable computational resources.</a:t>
                      </a:r>
                    </a:p>
                  </a:txBody>
                  <a:tcPr marL="2607" marR="2607" marT="1304" marB="1304" anchor="ctr"/>
                </a:tc>
                <a:extLst>
                  <a:ext uri="{0D108BD9-81ED-4DB2-BD59-A6C34878D82A}">
                    <a16:rowId xmlns:a16="http://schemas.microsoft.com/office/drawing/2014/main" val="44897725"/>
                  </a:ext>
                </a:extLst>
              </a:tr>
              <a:tr h="834492">
                <a:tc>
                  <a:txBody>
                    <a:bodyPr/>
                    <a:lstStyle/>
                    <a:p>
                      <a:pPr algn="l"/>
                      <a:r>
                        <a:rPr lang="en-IN" sz="1400" b="1"/>
                        <a:t>24</a:t>
                      </a:r>
                      <a:endParaRPr lang="en-IN" sz="1400"/>
                    </a:p>
                  </a:txBody>
                  <a:tcPr marL="2607" marR="2607" marT="1304" marB="1304" anchor="ctr"/>
                </a:tc>
                <a:tc>
                  <a:txBody>
                    <a:bodyPr/>
                    <a:lstStyle/>
                    <a:p>
                      <a:pPr algn="l"/>
                      <a:r>
                        <a:rPr lang="en-US" sz="1400" b="1"/>
                        <a:t>A Systematic Literature Review of Hallucinations in Large Language Models</a:t>
                      </a:r>
                      <a:endParaRPr lang="en-US" sz="1400"/>
                    </a:p>
                  </a:txBody>
                  <a:tcPr marL="2607" marR="2607" marT="1304" marB="1304" anchor="ctr"/>
                </a:tc>
                <a:tc>
                  <a:txBody>
                    <a:bodyPr/>
                    <a:lstStyle/>
                    <a:p>
                      <a:pPr algn="l"/>
                      <a:r>
                        <a:rPr lang="de-DE" sz="1400"/>
                        <a:t>C. Woesle, L. Fischer-Brandies, R. Buettner</a:t>
                      </a:r>
                    </a:p>
                  </a:txBody>
                  <a:tcPr marL="2607" marR="2607" marT="1304" marB="1304" anchor="ctr"/>
                </a:tc>
                <a:tc>
                  <a:txBody>
                    <a:bodyPr/>
                    <a:lstStyle/>
                    <a:p>
                      <a:pPr algn="l"/>
                      <a:r>
                        <a:rPr lang="en-IN" sz="1400"/>
                        <a:t>2025</a:t>
                      </a:r>
                    </a:p>
                  </a:txBody>
                  <a:tcPr marL="2607" marR="2607" marT="1304" marB="1304" anchor="ctr"/>
                </a:tc>
                <a:tc>
                  <a:txBody>
                    <a:bodyPr/>
                    <a:lstStyle/>
                    <a:p>
                      <a:pPr algn="l"/>
                      <a:r>
                        <a:rPr lang="en-US" sz="1400"/>
                        <a:t>PRISMA-based systematic review, hallucination detection and mitigation</a:t>
                      </a:r>
                    </a:p>
                  </a:txBody>
                  <a:tcPr marL="2607" marR="2607" marT="1304" marB="1304" anchor="ctr"/>
                </a:tc>
                <a:tc>
                  <a:txBody>
                    <a:bodyPr/>
                    <a:lstStyle/>
                    <a:p>
                      <a:pPr algn="l"/>
                      <a:r>
                        <a:rPr lang="en-US" sz="1400"/>
                        <a:t>Identifies major hallucination problems and emphasizes verification mechanisms for reliable LLM outputs.</a:t>
                      </a:r>
                    </a:p>
                  </a:txBody>
                  <a:tcPr marL="2607" marR="2607" marT="1304" marB="1304" anchor="ctr"/>
                </a:tc>
                <a:tc>
                  <a:txBody>
                    <a:bodyPr/>
                    <a:lstStyle/>
                    <a:p>
                      <a:pPr algn="l"/>
                      <a:r>
                        <a:rPr lang="en-US" sz="1400"/>
                        <a:t>Only a small portion of existing studies use fully integrated validation architectures.</a:t>
                      </a:r>
                    </a:p>
                  </a:txBody>
                  <a:tcPr marL="2607" marR="2607" marT="1304" marB="1304" anchor="ctr"/>
                </a:tc>
                <a:extLst>
                  <a:ext uri="{0D108BD9-81ED-4DB2-BD59-A6C34878D82A}">
                    <a16:rowId xmlns:a16="http://schemas.microsoft.com/office/drawing/2014/main" val="354565743"/>
                  </a:ext>
                </a:extLst>
              </a:tr>
              <a:tr h="887418">
                <a:tc>
                  <a:txBody>
                    <a:bodyPr/>
                    <a:lstStyle/>
                    <a:p>
                      <a:pPr algn="l"/>
                      <a:r>
                        <a:rPr lang="en-IN" sz="1400" b="1"/>
                        <a:t>25</a:t>
                      </a:r>
                      <a:endParaRPr lang="en-IN" sz="1400"/>
                    </a:p>
                  </a:txBody>
                  <a:tcPr marL="2607" marR="2607" marT="1304" marB="1304" anchor="ctr"/>
                </a:tc>
                <a:tc>
                  <a:txBody>
                    <a:bodyPr/>
                    <a:lstStyle/>
                    <a:p>
                      <a:pPr algn="l"/>
                      <a:r>
                        <a:rPr lang="en-US" sz="1400" b="1"/>
                        <a:t>Enhancing the Precision and Interpretability of Retrieval-Augmented Generation (RAG) in Legal Technology: A Survey</a:t>
                      </a:r>
                      <a:endParaRPr lang="en-US" sz="1400"/>
                    </a:p>
                  </a:txBody>
                  <a:tcPr marL="2607" marR="2607" marT="1304" marB="1304" anchor="ctr"/>
                </a:tc>
                <a:tc>
                  <a:txBody>
                    <a:bodyPr/>
                    <a:lstStyle/>
                    <a:p>
                      <a:pPr algn="l"/>
                      <a:r>
                        <a:rPr lang="en-IN" sz="1400"/>
                        <a:t>M. Hindi, L. Mohammed, O. Maaz, A. Alwarafy</a:t>
                      </a:r>
                    </a:p>
                  </a:txBody>
                  <a:tcPr marL="2607" marR="2607" marT="1304" marB="1304" anchor="ctr"/>
                </a:tc>
                <a:tc>
                  <a:txBody>
                    <a:bodyPr/>
                    <a:lstStyle/>
                    <a:p>
                      <a:pPr algn="l"/>
                      <a:r>
                        <a:rPr lang="en-IN" sz="1400"/>
                        <a:t>2025</a:t>
                      </a:r>
                    </a:p>
                  </a:txBody>
                  <a:tcPr marL="2607" marR="2607" marT="1304" marB="1304" anchor="ctr"/>
                </a:tc>
                <a:tc>
                  <a:txBody>
                    <a:bodyPr/>
                    <a:lstStyle/>
                    <a:p>
                      <a:pPr algn="l"/>
                      <a:r>
                        <a:rPr lang="en-US" sz="1400"/>
                        <a:t>RAG, information retrieval, knowledge graphs, LLM, evaluation metrics</a:t>
                      </a:r>
                    </a:p>
                  </a:txBody>
                  <a:tcPr marL="2607" marR="2607" marT="1304" marB="1304" anchor="ctr"/>
                </a:tc>
                <a:tc>
                  <a:txBody>
                    <a:bodyPr/>
                    <a:lstStyle/>
                    <a:p>
                      <a:pPr algn="l"/>
                      <a:r>
                        <a:rPr lang="en-US" sz="1400"/>
                        <a:t>Improves understanding of RAG pipelines, retrieval methods, evaluation, and hallucination reduction.</a:t>
                      </a:r>
                    </a:p>
                  </a:txBody>
                  <a:tcPr marL="2607" marR="2607" marT="1304" marB="1304" anchor="ctr"/>
                </a:tc>
                <a:tc>
                  <a:txBody>
                    <a:bodyPr/>
                    <a:lstStyle/>
                    <a:p>
                      <a:pPr algn="l"/>
                      <a:r>
                        <a:rPr lang="en-US" sz="1400" dirty="0"/>
                        <a:t>Focuses mainly on legal applications and requires domain-specific knowledge for other fields.</a:t>
                      </a:r>
                    </a:p>
                  </a:txBody>
                  <a:tcPr marL="2607" marR="2607" marT="1304" marB="1304" anchor="ctr"/>
                </a:tc>
                <a:extLst>
                  <a:ext uri="{0D108BD9-81ED-4DB2-BD59-A6C34878D82A}">
                    <a16:rowId xmlns:a16="http://schemas.microsoft.com/office/drawing/2014/main" val="3438697127"/>
                  </a:ext>
                </a:extLst>
              </a:tr>
            </a:tbl>
          </a:graphicData>
        </a:graphic>
      </p:graphicFrame>
    </p:spTree>
    <p:extLst>
      <p:ext uri="{BB962C8B-B14F-4D97-AF65-F5344CB8AC3E}">
        <p14:creationId xmlns:p14="http://schemas.microsoft.com/office/powerpoint/2010/main" val="4091267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CD1796-85DB-F26C-5FC9-4990AF7CF66C}"/>
              </a:ext>
            </a:extLst>
          </p:cNvPr>
          <p:cNvSpPr>
            <a:spLocks noGrp="1"/>
          </p:cNvSpPr>
          <p:nvPr>
            <p:ph type="title"/>
          </p:nvPr>
        </p:nvSpPr>
        <p:spPr>
          <a:xfrm>
            <a:off x="2231543" y="381001"/>
            <a:ext cx="7466965" cy="430887"/>
          </a:xfrm>
        </p:spPr>
        <p:txBody>
          <a:bodyPr/>
          <a:lstStyle/>
          <a:p>
            <a:r>
              <a:rPr lang="en-IN" dirty="0"/>
              <a:t>References </a:t>
            </a:r>
          </a:p>
        </p:txBody>
      </p:sp>
      <p:sp>
        <p:nvSpPr>
          <p:cNvPr id="4" name="Text Placeholder 3">
            <a:extLst>
              <a:ext uri="{FF2B5EF4-FFF2-40B4-BE49-F238E27FC236}">
                <a16:creationId xmlns:a16="http://schemas.microsoft.com/office/drawing/2014/main" id="{0355EECF-2638-507C-C8FB-7CA7DB47B9AB}"/>
              </a:ext>
            </a:extLst>
          </p:cNvPr>
          <p:cNvSpPr>
            <a:spLocks noGrp="1"/>
          </p:cNvSpPr>
          <p:nvPr>
            <p:ph type="body" idx="1"/>
          </p:nvPr>
        </p:nvSpPr>
        <p:spPr>
          <a:xfrm>
            <a:off x="304800" y="762000"/>
            <a:ext cx="11658600" cy="5860911"/>
          </a:xfrm>
        </p:spPr>
        <p:txBody>
          <a:bodyPr/>
          <a:lstStyle/>
          <a:p>
            <a:pPr>
              <a:lnSpc>
                <a:spcPct val="150000"/>
              </a:lnSpc>
            </a:pPr>
            <a:r>
              <a:rPr lang="en-IN" sz="1600" dirty="0"/>
              <a:t>[1] N. </a:t>
            </a:r>
            <a:r>
              <a:rPr lang="en-IN" sz="1600" dirty="0" err="1"/>
              <a:t>Aisyah</a:t>
            </a:r>
            <a:r>
              <a:rPr lang="en-IN" sz="1600" dirty="0"/>
              <a:t>, D. </a:t>
            </a:r>
            <a:r>
              <a:rPr lang="en-IN" sz="1600" dirty="0" err="1"/>
              <a:t>Purwitasari</a:t>
            </a:r>
            <a:r>
              <a:rPr lang="en-IN" sz="1600" dirty="0"/>
              <a:t>, R. N. E. </a:t>
            </a:r>
            <a:r>
              <a:rPr lang="en-IN" sz="1600" dirty="0" err="1"/>
              <a:t>Anggraini</a:t>
            </a:r>
            <a:r>
              <a:rPr lang="en-IN" sz="1600" dirty="0"/>
              <a:t>, and S. D. Ravana, “</a:t>
            </a:r>
            <a:r>
              <a:rPr lang="en-IN" sz="1600" dirty="0" err="1"/>
              <a:t>eBloomDQG</a:t>
            </a:r>
            <a:r>
              <a:rPr lang="en-IN" sz="1600" dirty="0"/>
              <a:t>: Integrating Cognitive Level Alignment with Encoder-Decoder Architecture for Deep Question Generation,” </a:t>
            </a:r>
            <a:r>
              <a:rPr lang="en-IN" sz="1600" i="1" dirty="0"/>
              <a:t>IEEE Access</a:t>
            </a:r>
            <a:r>
              <a:rPr lang="en-IN" sz="1600" dirty="0"/>
              <a:t>, 2026, </a:t>
            </a:r>
            <a:r>
              <a:rPr lang="en-IN" sz="1600" dirty="0" err="1"/>
              <a:t>doi</a:t>
            </a:r>
            <a:r>
              <a:rPr lang="en-IN" sz="1600" dirty="0"/>
              <a:t>: 10.1109/ACCESS.2026.3721532. </a:t>
            </a:r>
          </a:p>
          <a:p>
            <a:pPr>
              <a:lnSpc>
                <a:spcPct val="150000"/>
              </a:lnSpc>
            </a:pPr>
            <a:r>
              <a:rPr lang="en-IN" sz="1600" dirty="0"/>
              <a:t>[2] D. Kim, S. Won Park, and J. Lee, “</a:t>
            </a:r>
            <a:r>
              <a:rPr lang="en-IN" sz="1600" dirty="0" err="1"/>
              <a:t>CQELedu</a:t>
            </a:r>
            <a:r>
              <a:rPr lang="en-IN" sz="1600" dirty="0"/>
              <a:t>: Design and Implementation of a </a:t>
            </a:r>
            <a:r>
              <a:rPr lang="en-IN" sz="1600" dirty="0" err="1"/>
              <a:t>LangChain</a:t>
            </a:r>
            <a:r>
              <a:rPr lang="en-IN" sz="1600" dirty="0"/>
              <a:t> and GPT-4o Mini-Based Web Application for Custom Question Generation and Error-Based Learning in Education,” </a:t>
            </a:r>
            <a:r>
              <a:rPr lang="en-IN" sz="1600" i="1" dirty="0"/>
              <a:t>IEEE Access</a:t>
            </a:r>
            <a:r>
              <a:rPr lang="en-IN" sz="1600" dirty="0"/>
              <a:t>, vol. 13, pp. 208932–208947, 2025, </a:t>
            </a:r>
            <a:r>
              <a:rPr lang="en-IN" sz="1600" dirty="0" err="1"/>
              <a:t>doi</a:t>
            </a:r>
            <a:r>
              <a:rPr lang="en-IN" sz="1600" dirty="0"/>
              <a:t>: 10.1109/ACCESS.2025.3639087. </a:t>
            </a:r>
          </a:p>
          <a:p>
            <a:pPr>
              <a:lnSpc>
                <a:spcPct val="150000"/>
              </a:lnSpc>
            </a:pPr>
            <a:r>
              <a:rPr lang="en-IN" sz="1600" dirty="0"/>
              <a:t>[3] M. R. Anwar, S. Khalid, S. </a:t>
            </a:r>
            <a:r>
              <a:rPr lang="en-IN" sz="1600" dirty="0" err="1"/>
              <a:t>Alshahrani</a:t>
            </a:r>
            <a:r>
              <a:rPr lang="en-IN" sz="1600" dirty="0"/>
              <a:t>, H. S. M. Bilal, and M. </a:t>
            </a:r>
            <a:r>
              <a:rPr lang="en-IN" sz="1600" dirty="0" err="1"/>
              <a:t>Aldawsari</a:t>
            </a:r>
            <a:r>
              <a:rPr lang="en-IN" sz="1600" dirty="0"/>
              <a:t>, “MCQs Generation With Large Language Models: A Survey of Methodologies, Evolution, and Open Research Issues,” </a:t>
            </a:r>
            <a:r>
              <a:rPr lang="en-IN" sz="1600" i="1" dirty="0"/>
              <a:t>IEEE Access</a:t>
            </a:r>
            <a:r>
              <a:rPr lang="en-IN" sz="1600" dirty="0"/>
              <a:t>, vol. 14, pp. 10991–11018, 2026, </a:t>
            </a:r>
            <a:r>
              <a:rPr lang="en-IN" sz="1600" dirty="0" err="1"/>
              <a:t>doi</a:t>
            </a:r>
            <a:r>
              <a:rPr lang="en-IN" sz="1600" dirty="0"/>
              <a:t>: 10.1109/ACCESS.2026.3652006. </a:t>
            </a:r>
          </a:p>
          <a:p>
            <a:pPr>
              <a:lnSpc>
                <a:spcPct val="150000"/>
              </a:lnSpc>
            </a:pPr>
            <a:r>
              <a:rPr lang="en-IN" sz="1600" dirty="0"/>
              <a:t>[4] S. W. Tan, C. P. Lee, K. M. Lim, and A. </a:t>
            </a:r>
            <a:r>
              <a:rPr lang="en-IN" sz="1600" dirty="0" err="1"/>
              <a:t>Alqahtani</a:t>
            </a:r>
            <a:r>
              <a:rPr lang="en-IN" sz="1600" dirty="0"/>
              <a:t>, “QARR-QGF: A Dual-Module Data Augmentation Framework for Enhanced Few-Shot Question Answering,” </a:t>
            </a:r>
            <a:r>
              <a:rPr lang="en-IN" sz="1600" i="1" dirty="0"/>
              <a:t>IEEE Access</a:t>
            </a:r>
            <a:r>
              <a:rPr lang="en-IN" sz="1600" dirty="0"/>
              <a:t>, vol. 13, pp. 160722–160736, 2025, </a:t>
            </a:r>
            <a:r>
              <a:rPr lang="en-IN" sz="1600" dirty="0" err="1"/>
              <a:t>doi</a:t>
            </a:r>
            <a:r>
              <a:rPr lang="en-IN" sz="1600" dirty="0"/>
              <a:t>: 10.1109/ACCESS.2025.3609472. </a:t>
            </a:r>
          </a:p>
          <a:p>
            <a:pPr>
              <a:lnSpc>
                <a:spcPct val="150000"/>
              </a:lnSpc>
            </a:pPr>
            <a:r>
              <a:rPr lang="en-IN" sz="1600" dirty="0"/>
              <a:t>[5] C. C. So, C. H. Lee, D. Yang, A. W. K. </a:t>
            </a:r>
            <a:r>
              <a:rPr lang="en-IN" sz="1600" dirty="0" err="1"/>
              <a:t>Loh</a:t>
            </a:r>
            <a:r>
              <a:rPr lang="en-IN" sz="1600" dirty="0"/>
              <a:t>, and C. K. Sze, “Automatic Generation of High-Quality MCQs With LLMs for Artificial Intelligence Education,” </a:t>
            </a:r>
            <a:r>
              <a:rPr lang="en-IN" sz="1600" i="1" dirty="0"/>
              <a:t>IEEE Access</a:t>
            </a:r>
            <a:r>
              <a:rPr lang="en-IN" sz="1600" dirty="0"/>
              <a:t>, vol. 13, pp. 184332–184347, 2025, </a:t>
            </a:r>
            <a:r>
              <a:rPr lang="en-IN" sz="1600" dirty="0" err="1"/>
              <a:t>doi</a:t>
            </a:r>
            <a:r>
              <a:rPr lang="en-IN" sz="1600" dirty="0"/>
              <a:t>: 10.1109/ACCESS.2025.3624820. </a:t>
            </a:r>
          </a:p>
          <a:p>
            <a:endParaRPr lang="en-IN" sz="1700" dirty="0">
              <a:solidFill>
                <a:srgbClr val="000000"/>
              </a:solidFill>
              <a:latin typeface="-webkit-standard"/>
            </a:endParaRPr>
          </a:p>
          <a:p>
            <a:endParaRPr lang="en-IN" sz="1700" b="0" i="0" u="none" strike="noStrike" dirty="0">
              <a:solidFill>
                <a:srgbClr val="000000"/>
              </a:solidFill>
              <a:effectLst/>
              <a:latin typeface="-webkit-standard"/>
            </a:endParaRPr>
          </a:p>
          <a:p>
            <a:endParaRPr lang="en-IN" sz="1700" dirty="0">
              <a:solidFill>
                <a:srgbClr val="000000"/>
              </a:solidFill>
              <a:latin typeface="-webkit-standard"/>
            </a:endParaRPr>
          </a:p>
          <a:p>
            <a:endParaRPr lang="en-IN" sz="1700" dirty="0"/>
          </a:p>
          <a:p>
            <a:endParaRPr lang="en-IN" sz="1700" dirty="0"/>
          </a:p>
          <a:p>
            <a:endParaRPr lang="en-IN" sz="1700" dirty="0"/>
          </a:p>
        </p:txBody>
      </p:sp>
      <p:sp>
        <p:nvSpPr>
          <p:cNvPr id="2" name="Date Placeholder 1">
            <a:extLst>
              <a:ext uri="{FF2B5EF4-FFF2-40B4-BE49-F238E27FC236}">
                <a16:creationId xmlns:a16="http://schemas.microsoft.com/office/drawing/2014/main" id="{F0912600-203A-3FC2-4531-F0BE49A51689}"/>
              </a:ext>
            </a:extLst>
          </p:cNvPr>
          <p:cNvSpPr>
            <a:spLocks noGrp="1"/>
          </p:cNvSpPr>
          <p:nvPr>
            <p:ph type="dt" sz="half" idx="6"/>
          </p:nvPr>
        </p:nvSpPr>
        <p:spPr/>
        <p:txBody>
          <a:bodyPr/>
          <a:lstStyle/>
          <a:p>
            <a:fld id="{22DE4BFD-4C67-1D48-A792-16FB9914AEC2}" type="datetime1">
              <a:rPr lang="en-IN" smtClean="0"/>
              <a:t>13-08-2026</a:t>
            </a:fld>
            <a:endParaRPr lang="en-US"/>
          </a:p>
        </p:txBody>
      </p:sp>
      <p:sp>
        <p:nvSpPr>
          <p:cNvPr id="5" name="Footer Placeholder 4">
            <a:extLst>
              <a:ext uri="{FF2B5EF4-FFF2-40B4-BE49-F238E27FC236}">
                <a16:creationId xmlns:a16="http://schemas.microsoft.com/office/drawing/2014/main" id="{7E71878D-A1CF-5198-2CA2-CE50820CCFCB}"/>
              </a:ext>
            </a:extLst>
          </p:cNvPr>
          <p:cNvSpPr>
            <a:spLocks noGrp="1"/>
          </p:cNvSpPr>
          <p:nvPr>
            <p:ph type="ftr" sz="quarter" idx="5"/>
          </p:nvPr>
        </p:nvSpPr>
        <p:spPr/>
        <p:txBody>
          <a:bodyPr/>
          <a:lstStyle/>
          <a:p>
            <a:r>
              <a:rPr lang="en-IN"/>
              <a:t>zeroth review-Dissertation-I</a:t>
            </a:r>
          </a:p>
        </p:txBody>
      </p:sp>
    </p:spTree>
    <p:extLst>
      <p:ext uri="{BB962C8B-B14F-4D97-AF65-F5344CB8AC3E}">
        <p14:creationId xmlns:p14="http://schemas.microsoft.com/office/powerpoint/2010/main" val="3381836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1F6D2-B731-7EC6-AF9B-1DEF9B5540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5C126E-7C8F-E057-BE86-3700B850A3B3}"/>
              </a:ext>
            </a:extLst>
          </p:cNvPr>
          <p:cNvSpPr>
            <a:spLocks noGrp="1"/>
          </p:cNvSpPr>
          <p:nvPr>
            <p:ph type="title"/>
          </p:nvPr>
        </p:nvSpPr>
        <p:spPr>
          <a:xfrm>
            <a:off x="2231543" y="381001"/>
            <a:ext cx="7466965" cy="430887"/>
          </a:xfrm>
        </p:spPr>
        <p:txBody>
          <a:bodyPr/>
          <a:lstStyle/>
          <a:p>
            <a:r>
              <a:rPr lang="en-IN" dirty="0"/>
              <a:t>References </a:t>
            </a:r>
          </a:p>
        </p:txBody>
      </p:sp>
      <p:sp>
        <p:nvSpPr>
          <p:cNvPr id="4" name="Text Placeholder 3">
            <a:extLst>
              <a:ext uri="{FF2B5EF4-FFF2-40B4-BE49-F238E27FC236}">
                <a16:creationId xmlns:a16="http://schemas.microsoft.com/office/drawing/2014/main" id="{F08ACC0D-62D4-ACCD-D8AD-D317665F695D}"/>
              </a:ext>
            </a:extLst>
          </p:cNvPr>
          <p:cNvSpPr>
            <a:spLocks noGrp="1"/>
          </p:cNvSpPr>
          <p:nvPr>
            <p:ph type="body" idx="1"/>
          </p:nvPr>
        </p:nvSpPr>
        <p:spPr>
          <a:xfrm>
            <a:off x="381000" y="990600"/>
            <a:ext cx="11430000" cy="4585871"/>
          </a:xfrm>
        </p:spPr>
        <p:txBody>
          <a:bodyPr/>
          <a:lstStyle/>
          <a:p>
            <a:pPr algn="just">
              <a:lnSpc>
                <a:spcPct val="150000"/>
              </a:lnSpc>
            </a:pPr>
            <a:r>
              <a:rPr lang="en-IN" sz="1600" dirty="0"/>
              <a:t>[6] N. </a:t>
            </a:r>
            <a:r>
              <a:rPr lang="en-IN" sz="1600" dirty="0" err="1"/>
              <a:t>Pradeesh</a:t>
            </a:r>
            <a:r>
              <a:rPr lang="en-IN" sz="1600" dirty="0"/>
              <a:t>, M. G. </a:t>
            </a:r>
            <a:r>
              <a:rPr lang="en-IN" sz="1600" dirty="0" err="1"/>
              <a:t>Thushara</a:t>
            </a:r>
            <a:r>
              <a:rPr lang="en-IN" sz="1600" dirty="0"/>
              <a:t>, K. Arun Krishna, V. Pranav, and S. Krishnamoorthy, “AI-Driven Personalized Learning and Remedial Recommendation Through Knowledge Concept-Centric Evaluation,” </a:t>
            </a:r>
            <a:r>
              <a:rPr lang="en-IN" sz="1600" i="1" dirty="0"/>
              <a:t>IEEE Access</a:t>
            </a:r>
            <a:r>
              <a:rPr lang="en-IN" sz="1600" dirty="0"/>
              <a:t>, vol. 13, pp. 207817–207837, 2025, </a:t>
            </a:r>
            <a:r>
              <a:rPr lang="en-IN" sz="1600" dirty="0" err="1"/>
              <a:t>doi</a:t>
            </a:r>
            <a:r>
              <a:rPr lang="en-IN" sz="1600" dirty="0"/>
              <a:t>: 10.1109/ACCESS.2025.3638427. </a:t>
            </a:r>
          </a:p>
          <a:p>
            <a:pPr algn="just">
              <a:lnSpc>
                <a:spcPct val="150000"/>
              </a:lnSpc>
            </a:pPr>
            <a:r>
              <a:rPr lang="en-IN" sz="1600" dirty="0"/>
              <a:t>[7] M. A. Ateeq, S. </a:t>
            </a:r>
            <a:r>
              <a:rPr lang="en-IN" sz="1600" dirty="0" err="1"/>
              <a:t>Tiun</a:t>
            </a:r>
            <a:r>
              <a:rPr lang="en-IN" sz="1600" dirty="0"/>
              <a:t>, H. </a:t>
            </a:r>
            <a:r>
              <a:rPr lang="en-IN" sz="1600" dirty="0" err="1"/>
              <a:t>Abdelhaq</a:t>
            </a:r>
            <a:r>
              <a:rPr lang="en-IN" sz="1600" dirty="0"/>
              <a:t>, and W. Kaur, “Question Answering on Lengthy Arabic Narrative Books,” </a:t>
            </a:r>
            <a:r>
              <a:rPr lang="en-IN" sz="1600" i="1" dirty="0"/>
              <a:t>IEEE Access</a:t>
            </a:r>
            <a:r>
              <a:rPr lang="en-IN" sz="1600" dirty="0"/>
              <a:t>, vol. 14, pp. 20734–20755, 2026, </a:t>
            </a:r>
            <a:r>
              <a:rPr lang="en-IN" sz="1600" dirty="0" err="1"/>
              <a:t>doi</a:t>
            </a:r>
            <a:r>
              <a:rPr lang="en-IN" sz="1600" dirty="0"/>
              <a:t>: 10.1109/ACCESS.2026.3661853. </a:t>
            </a:r>
          </a:p>
          <a:p>
            <a:pPr algn="just">
              <a:lnSpc>
                <a:spcPct val="150000"/>
              </a:lnSpc>
            </a:pPr>
            <a:r>
              <a:rPr lang="en-IN" sz="1600" dirty="0"/>
              <a:t>[8] T. </a:t>
            </a:r>
            <a:r>
              <a:rPr lang="en-IN" sz="1600" dirty="0" err="1"/>
              <a:t>Zoughi</a:t>
            </a:r>
            <a:r>
              <a:rPr lang="en-IN" sz="1600" dirty="0"/>
              <a:t>, E. </a:t>
            </a:r>
            <a:r>
              <a:rPr lang="en-IN" sz="1600" dirty="0" err="1"/>
              <a:t>Arianyan</a:t>
            </a:r>
            <a:r>
              <a:rPr lang="en-IN" sz="1600" dirty="0"/>
              <a:t>, M. </a:t>
            </a:r>
            <a:r>
              <a:rPr lang="en-IN" sz="1600" dirty="0" err="1"/>
              <a:t>Mahmoudi</a:t>
            </a:r>
            <a:r>
              <a:rPr lang="en-IN" sz="1600" dirty="0"/>
              <a:t>, M. </a:t>
            </a:r>
            <a:r>
              <a:rPr lang="en-IN" sz="1600" dirty="0" err="1"/>
              <a:t>Aghdamifard</a:t>
            </a:r>
            <a:r>
              <a:rPr lang="en-IN" sz="1600" dirty="0"/>
              <a:t>, and M. </a:t>
            </a:r>
            <a:r>
              <a:rPr lang="en-IN" sz="1600" dirty="0" err="1"/>
              <a:t>Nikoogoftar</a:t>
            </a:r>
            <a:r>
              <a:rPr lang="en-IN" sz="1600" dirty="0"/>
              <a:t>, “Hybrid Layered Retrieval and Task-Aware Embeddings for Efficient Persian RAG Systems,” </a:t>
            </a:r>
            <a:r>
              <a:rPr lang="en-IN" sz="1600" i="1" dirty="0"/>
              <a:t>Journal of Web Engineering</a:t>
            </a:r>
            <a:r>
              <a:rPr lang="en-IN" sz="1600" dirty="0"/>
              <a:t>, vol. 25, no. 5, pp. 765–796, 2026, </a:t>
            </a:r>
            <a:r>
              <a:rPr lang="en-IN" sz="1600" dirty="0" err="1"/>
              <a:t>doi</a:t>
            </a:r>
            <a:r>
              <a:rPr lang="en-IN" sz="1600" dirty="0"/>
              <a:t>: 10.13052/jwe1540-9589.2552. </a:t>
            </a:r>
          </a:p>
          <a:p>
            <a:pPr algn="just">
              <a:lnSpc>
                <a:spcPct val="150000"/>
              </a:lnSpc>
            </a:pPr>
            <a:r>
              <a:rPr lang="en-IN" sz="1600" dirty="0"/>
              <a:t>[9] C. </a:t>
            </a:r>
            <a:r>
              <a:rPr lang="en-IN" sz="1600" dirty="0" err="1"/>
              <a:t>Woesle</a:t>
            </a:r>
            <a:r>
              <a:rPr lang="en-IN" sz="1600" dirty="0"/>
              <a:t>, L. Fischer-Brandies, and R. Buettner, “A Systematic Literature Review of Hallucinations in Large Language Models,” </a:t>
            </a:r>
            <a:r>
              <a:rPr lang="en-IN" sz="1600" i="1" dirty="0"/>
              <a:t>IEEE Access</a:t>
            </a:r>
            <a:r>
              <a:rPr lang="en-IN" sz="1600" dirty="0"/>
              <a:t>, vol. 13, pp. 148231–148253, 2025, </a:t>
            </a:r>
            <a:r>
              <a:rPr lang="en-IN" sz="1600" dirty="0" err="1"/>
              <a:t>doi</a:t>
            </a:r>
            <a:r>
              <a:rPr lang="en-IN" sz="1600" dirty="0"/>
              <a:t>: 10.1109/ACCESS.2025.3601206. </a:t>
            </a:r>
          </a:p>
          <a:p>
            <a:pPr algn="just">
              <a:lnSpc>
                <a:spcPct val="150000"/>
              </a:lnSpc>
            </a:pPr>
            <a:r>
              <a:rPr lang="en-IN" sz="1600" dirty="0"/>
              <a:t>[10] M. Hindi, L. Mohammed, O. Maaz, and A. </a:t>
            </a:r>
            <a:r>
              <a:rPr lang="en-IN" sz="1600" dirty="0" err="1"/>
              <a:t>Alwarafy</a:t>
            </a:r>
            <a:r>
              <a:rPr lang="en-IN" sz="1600" dirty="0"/>
              <a:t>, “Enhancing the Precision and Interpretability of Retrieval-Augmented Generation (RAG) in Legal Technology: A Survey,” </a:t>
            </a:r>
            <a:r>
              <a:rPr lang="en-IN" sz="1600" i="1" dirty="0"/>
              <a:t>IEEE Access</a:t>
            </a:r>
            <a:r>
              <a:rPr lang="en-IN" sz="1600" dirty="0"/>
              <a:t>, vol. 13, pp. 46171–46189, 2025, </a:t>
            </a:r>
            <a:r>
              <a:rPr lang="en-IN" sz="1600" dirty="0" err="1"/>
              <a:t>doi</a:t>
            </a:r>
            <a:r>
              <a:rPr lang="en-IN" sz="1600" dirty="0"/>
              <a:t>: 10.1109/ACCESS.2025.3550145. </a:t>
            </a:r>
          </a:p>
          <a:p>
            <a:endParaRPr lang="en-IN" sz="1700" dirty="0"/>
          </a:p>
          <a:p>
            <a:endParaRPr lang="en-IN" sz="1700" dirty="0"/>
          </a:p>
        </p:txBody>
      </p:sp>
      <p:sp>
        <p:nvSpPr>
          <p:cNvPr id="2" name="Date Placeholder 1">
            <a:extLst>
              <a:ext uri="{FF2B5EF4-FFF2-40B4-BE49-F238E27FC236}">
                <a16:creationId xmlns:a16="http://schemas.microsoft.com/office/drawing/2014/main" id="{A7F30F40-D061-BF8D-8052-F1E05A16505E}"/>
              </a:ext>
            </a:extLst>
          </p:cNvPr>
          <p:cNvSpPr>
            <a:spLocks noGrp="1"/>
          </p:cNvSpPr>
          <p:nvPr>
            <p:ph type="dt" sz="half" idx="6"/>
          </p:nvPr>
        </p:nvSpPr>
        <p:spPr/>
        <p:txBody>
          <a:bodyPr/>
          <a:lstStyle/>
          <a:p>
            <a:fld id="{22DE4BFD-4C67-1D48-A792-16FB9914AEC2}" type="datetime1">
              <a:rPr lang="en-IN" smtClean="0"/>
              <a:t>13-08-2026</a:t>
            </a:fld>
            <a:endParaRPr lang="en-US"/>
          </a:p>
        </p:txBody>
      </p:sp>
      <p:sp>
        <p:nvSpPr>
          <p:cNvPr id="5" name="Footer Placeholder 4">
            <a:extLst>
              <a:ext uri="{FF2B5EF4-FFF2-40B4-BE49-F238E27FC236}">
                <a16:creationId xmlns:a16="http://schemas.microsoft.com/office/drawing/2014/main" id="{F22DC100-5459-E6FC-E0C6-3BD8847C75DF}"/>
              </a:ext>
            </a:extLst>
          </p:cNvPr>
          <p:cNvSpPr>
            <a:spLocks noGrp="1"/>
          </p:cNvSpPr>
          <p:nvPr>
            <p:ph type="ftr" sz="quarter" idx="5"/>
          </p:nvPr>
        </p:nvSpPr>
        <p:spPr/>
        <p:txBody>
          <a:bodyPr/>
          <a:lstStyle/>
          <a:p>
            <a:r>
              <a:rPr lang="en-IN"/>
              <a:t>zeroth review-Dissertation-I</a:t>
            </a:r>
          </a:p>
        </p:txBody>
      </p:sp>
    </p:spTree>
    <p:extLst>
      <p:ext uri="{BB962C8B-B14F-4D97-AF65-F5344CB8AC3E}">
        <p14:creationId xmlns:p14="http://schemas.microsoft.com/office/powerpoint/2010/main" val="1685958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CD1796-85DB-F26C-5FC9-4990AF7CF66C}"/>
              </a:ext>
            </a:extLst>
          </p:cNvPr>
          <p:cNvSpPr>
            <a:spLocks noGrp="1"/>
          </p:cNvSpPr>
          <p:nvPr>
            <p:ph type="title"/>
          </p:nvPr>
        </p:nvSpPr>
        <p:spPr>
          <a:xfrm>
            <a:off x="2231543" y="381001"/>
            <a:ext cx="7466965" cy="430887"/>
          </a:xfrm>
        </p:spPr>
        <p:txBody>
          <a:bodyPr/>
          <a:lstStyle/>
          <a:p>
            <a:r>
              <a:rPr lang="en-IN" dirty="0"/>
              <a:t>Check List</a:t>
            </a:r>
          </a:p>
        </p:txBody>
      </p:sp>
      <p:sp>
        <p:nvSpPr>
          <p:cNvPr id="4" name="Text Placeholder 3">
            <a:extLst>
              <a:ext uri="{FF2B5EF4-FFF2-40B4-BE49-F238E27FC236}">
                <a16:creationId xmlns:a16="http://schemas.microsoft.com/office/drawing/2014/main" id="{0355EECF-2638-507C-C8FB-7CA7DB47B9AB}"/>
              </a:ext>
            </a:extLst>
          </p:cNvPr>
          <p:cNvSpPr>
            <a:spLocks noGrp="1"/>
          </p:cNvSpPr>
          <p:nvPr>
            <p:ph type="body" idx="1"/>
          </p:nvPr>
        </p:nvSpPr>
        <p:spPr>
          <a:xfrm>
            <a:off x="1524000" y="1293870"/>
            <a:ext cx="9067799" cy="2585323"/>
          </a:xfrm>
        </p:spPr>
        <p:txBody>
          <a:bodyPr/>
          <a:lstStyle/>
          <a:p>
            <a:pPr marL="514350" indent="-514350">
              <a:buFont typeface="+mj-lt"/>
              <a:buAutoNum type="arabicPeriod"/>
            </a:pPr>
            <a:r>
              <a:rPr lang="en-IN" dirty="0"/>
              <a:t>Base paper Hard Copy to be submitted</a:t>
            </a:r>
          </a:p>
          <a:p>
            <a:pPr marL="514350" indent="-514350">
              <a:buFont typeface="+mj-lt"/>
              <a:buAutoNum type="arabicPeriod"/>
            </a:pPr>
            <a:r>
              <a:rPr lang="en-IN" dirty="0"/>
              <a:t>Hard copy to be uploaded in drive named as </a:t>
            </a:r>
            <a:r>
              <a:rPr lang="en-IN" dirty="0" err="1">
                <a:solidFill>
                  <a:srgbClr val="FF0000"/>
                </a:solidFill>
              </a:rPr>
              <a:t>RollNo_basepaper</a:t>
            </a:r>
            <a:endParaRPr lang="en-IN" dirty="0">
              <a:solidFill>
                <a:srgbClr val="FF0000"/>
              </a:solidFill>
            </a:endParaRPr>
          </a:p>
          <a:p>
            <a:pPr marL="514350" indent="-514350">
              <a:buFont typeface="+mj-lt"/>
              <a:buAutoNum type="arabicPeriod"/>
            </a:pPr>
            <a:r>
              <a:rPr lang="en-IN" dirty="0"/>
              <a:t>PPT to be uploaded in the drive named as </a:t>
            </a:r>
            <a:r>
              <a:rPr lang="en-IN" dirty="0" err="1">
                <a:solidFill>
                  <a:srgbClr val="FF0000"/>
                </a:solidFill>
              </a:rPr>
              <a:t>RollNo_Zeroth</a:t>
            </a:r>
            <a:r>
              <a:rPr lang="en-IN" dirty="0">
                <a:solidFill>
                  <a:srgbClr val="FF0000"/>
                </a:solidFill>
              </a:rPr>
              <a:t> review ppt</a:t>
            </a:r>
          </a:p>
          <a:p>
            <a:pPr marL="514350" indent="-514350">
              <a:buFont typeface="+mj-lt"/>
              <a:buAutoNum type="arabicPeriod"/>
            </a:pPr>
            <a:r>
              <a:rPr lang="en-IN" dirty="0">
                <a:solidFill>
                  <a:srgbClr val="FF0000"/>
                </a:solidFill>
              </a:rPr>
              <a:t>Attendance Sheet signed by Guide</a:t>
            </a:r>
          </a:p>
        </p:txBody>
      </p:sp>
      <p:sp>
        <p:nvSpPr>
          <p:cNvPr id="2" name="Date Placeholder 1">
            <a:extLst>
              <a:ext uri="{FF2B5EF4-FFF2-40B4-BE49-F238E27FC236}">
                <a16:creationId xmlns:a16="http://schemas.microsoft.com/office/drawing/2014/main" id="{CC430D41-F3FD-1BA5-275D-EECF671657F0}"/>
              </a:ext>
            </a:extLst>
          </p:cNvPr>
          <p:cNvSpPr>
            <a:spLocks noGrp="1"/>
          </p:cNvSpPr>
          <p:nvPr>
            <p:ph type="dt" sz="half" idx="6"/>
          </p:nvPr>
        </p:nvSpPr>
        <p:spPr/>
        <p:txBody>
          <a:bodyPr/>
          <a:lstStyle/>
          <a:p>
            <a:fld id="{6C6FC5D2-2488-834B-876B-6278EFC5D8B4}" type="datetime1">
              <a:rPr lang="en-IN" smtClean="0"/>
              <a:t>13-08-2026</a:t>
            </a:fld>
            <a:endParaRPr lang="en-US"/>
          </a:p>
        </p:txBody>
      </p:sp>
      <p:sp>
        <p:nvSpPr>
          <p:cNvPr id="5" name="Footer Placeholder 4">
            <a:extLst>
              <a:ext uri="{FF2B5EF4-FFF2-40B4-BE49-F238E27FC236}">
                <a16:creationId xmlns:a16="http://schemas.microsoft.com/office/drawing/2014/main" id="{AC34476F-A01D-BE41-A223-D4934C74B049}"/>
              </a:ext>
            </a:extLst>
          </p:cNvPr>
          <p:cNvSpPr>
            <a:spLocks noGrp="1"/>
          </p:cNvSpPr>
          <p:nvPr>
            <p:ph type="ftr" sz="quarter" idx="5"/>
          </p:nvPr>
        </p:nvSpPr>
        <p:spPr/>
        <p:txBody>
          <a:bodyPr/>
          <a:lstStyle/>
          <a:p>
            <a:r>
              <a:rPr lang="en-IN"/>
              <a:t>zeroth review-Dissertation-I</a:t>
            </a:r>
          </a:p>
        </p:txBody>
      </p:sp>
    </p:spTree>
    <p:extLst>
      <p:ext uri="{BB962C8B-B14F-4D97-AF65-F5344CB8AC3E}">
        <p14:creationId xmlns:p14="http://schemas.microsoft.com/office/powerpoint/2010/main" val="9908534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1282</TotalTime>
  <Words>2737</Words>
  <Application>Microsoft Office PowerPoint</Application>
  <PresentationFormat>Widescreen</PresentationFormat>
  <Paragraphs>305</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Caladea</vt:lpstr>
      <vt:lpstr>Calibri</vt:lpstr>
      <vt:lpstr>Times New Roman</vt:lpstr>
      <vt:lpstr>Trebuchet MS</vt:lpstr>
      <vt:lpstr>-webkit-standard</vt:lpstr>
      <vt:lpstr>Wingdings</vt:lpstr>
      <vt:lpstr>Office Theme</vt:lpstr>
      <vt:lpstr>Presidency School of Artificial Intelligence and Advanced Computing PIP7500 Dissertation/Internship-I ZEROTH REVIEW  TITLE:   </vt:lpstr>
      <vt:lpstr>Overview</vt:lpstr>
      <vt:lpstr>Abstract</vt:lpstr>
      <vt:lpstr>Problem Statement</vt:lpstr>
      <vt:lpstr>Proposed Method</vt:lpstr>
      <vt:lpstr>Hardware &amp; Software Details</vt:lpstr>
      <vt:lpstr>LITERATURE SURVEY</vt:lpstr>
      <vt:lpstr>LITERATURE SURVEY</vt:lpstr>
      <vt:lpstr>LITERATURE SURVEY</vt:lpstr>
      <vt:lpstr>LITERATURE SURVEY</vt:lpstr>
      <vt:lpstr>LITERATURE SURVEY</vt:lpstr>
      <vt:lpstr>References </vt:lpstr>
      <vt:lpstr>References </vt:lpstr>
      <vt:lpstr>Check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Rupam Bhagawati</dc:creator>
  <cp:lastModifiedBy>vaishu</cp:lastModifiedBy>
  <cp:revision>56</cp:revision>
  <dcterms:created xsi:type="dcterms:W3CDTF">2021-01-25T16:23:57Z</dcterms:created>
  <dcterms:modified xsi:type="dcterms:W3CDTF">2026-08-13T08:25:50Z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2020-06-03T00:00:00Z</vt:filetime>
  </property>
  <property fmtid="{D5CDD505-2E9C-101B-9397-08002B2CF9AE}" pid="3" name="Creator">
    <vt:lpwstr>Microsoft® PowerPoint® 2013</vt:lpwstr>
  </property>
  <property fmtid="{D5CDD505-2E9C-101B-9397-08002B2CF9AE}" pid="4" name="LastSaved">
    <vt:filetime>2021-01-25T00:00:00Z</vt:filetime>
  </property>
</Properties>
</file>